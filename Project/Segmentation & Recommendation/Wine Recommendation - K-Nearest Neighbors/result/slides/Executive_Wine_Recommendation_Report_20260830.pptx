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WINE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K-Nearest Neighbors  |  Cosine Similarity on Chemical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01/04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1938528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54864" cy="131673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673352"/>
            <a:ext cx="16824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324B"/>
                </a:solidFill>
              </a:rPr>
              <a:t>178</a:t>
            </a:r>
          </a:p>
          <a:p>
            <a:pPr algn="l"/>
            <a:r>
              <a:rPr sz="1300" b="0" i="0">
                <a:solidFill>
                  <a:srgbClr val="6B7C8C"/>
                </a:solidFill>
              </a:rPr>
              <a:t>Wines in catalog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51176" y="1600200"/>
            <a:ext cx="1938528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1176" y="1600200"/>
            <a:ext cx="54864" cy="131673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1673352"/>
            <a:ext cx="16824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324B"/>
                </a:solidFill>
              </a:rPr>
              <a:t>13</a:t>
            </a:r>
          </a:p>
          <a:p>
            <a:pPr algn="l"/>
            <a:r>
              <a:rPr sz="1300" b="0" i="0">
                <a:solidFill>
                  <a:srgbClr val="6B7C8C"/>
                </a:solidFill>
              </a:rPr>
              <a:t>Chemical attributes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5152" y="1600200"/>
            <a:ext cx="1938528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45152" y="1600200"/>
            <a:ext cx="54864" cy="131673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1673352"/>
            <a:ext cx="16824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324B"/>
                </a:solidFill>
              </a:rPr>
              <a:t>3</a:t>
            </a:r>
          </a:p>
          <a:p>
            <a:pPr algn="l"/>
            <a:r>
              <a:rPr sz="1300" b="0" i="0">
                <a:solidFill>
                  <a:srgbClr val="6B7C8C"/>
                </a:solidFill>
              </a:rPr>
              <a:t>Cultivars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9128" y="1600200"/>
            <a:ext cx="1938528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39128" y="1600200"/>
            <a:ext cx="54864" cy="131673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5432" y="1673352"/>
            <a:ext cx="16824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324B"/>
                </a:solidFill>
              </a:rPr>
              <a:t>93%</a:t>
            </a:r>
          </a:p>
          <a:p>
            <a:pPr algn="l"/>
            <a:r>
              <a:rPr sz="1300" b="0" i="0">
                <a:solidFill>
                  <a:srgbClr val="6B7C8C"/>
                </a:solidFill>
              </a:rPr>
              <a:t>Avg precision@5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METHOD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602736"/>
            <a:ext cx="8229600" cy="228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602736"/>
            <a:ext cx="54864" cy="2286000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803904"/>
            <a:ext cx="7772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3945"/>
                </a:solidFill>
              </a:rPr>
              <a:t>Every wine's 13 lab-measured chemical attributes (alcohol, phenols, color intensity, proline, etc.) are standardized, then compared pairwise with cosine similarity.</a:t>
            </a:r>
          </a:p>
          <a:p>
            <a:pPr algn="l"/>
            <a:r>
              <a:rPr sz="1400" b="0" i="0">
                <a:solidFill>
                  <a:srgbClr val="2C3945"/>
                </a:solidFill>
              </a:rPr>
              <a:t>Given a wine a taster likes, a K-Nearest Neighbors lookup finds the closest matches in that standardized space -- no other tasters or ratings required, unlike collaborative filtering.</a:t>
            </a:r>
          </a:p>
          <a:p>
            <a:pPr algn="l"/>
            <a:r>
              <a:rPr sz="1400" b="0" i="0">
                <a:solidFill>
                  <a:srgbClr val="2C3945"/>
                </a:solidFill>
              </a:rPr>
              <a:t>Precision@5 validates the approach: it checks whether a wine's nearest neighbors actually share its cultivar (its real, known style), using the dataset's ground-truth labels.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WINE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Recommendation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K-Nearest Neighbors  |  Cosine Similarity on Chemical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02/04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PRECISION@K -- DOES 'CHEMICALLY SIMILAR' MEAN 'SAME STYLE'?</a:t>
            </a:r>
          </a:p>
        </p:txBody>
      </p:sp>
      <p:pic>
        <p:nvPicPr>
          <p:cNvPr id="10" name="Picture 9" descr="precision_a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8229600" cy="45096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WINE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Sample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K-Nearest Neighbors  |  Cosine Similarity on Chemical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03/04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REFERENCE: Wine #12 (Cultivar 0) -- CHEMICAL PROFILE MATCH</a:t>
            </a:r>
          </a:p>
        </p:txBody>
      </p:sp>
      <p:pic>
        <p:nvPicPr>
          <p:cNvPr id="10" name="Picture 9" descr="rad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4846320" cy="387336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32120" y="1417320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TOP RECOMMENDATIONS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1737360"/>
            <a:ext cx="1051560" cy="457200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41848" y="1737360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737360"/>
            <a:ext cx="1051560" cy="457200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408" y="1737360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Cultivar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1737360"/>
            <a:ext cx="1051560" cy="457200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44967" y="1737360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Similarity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2120" y="2194560"/>
            <a:ext cx="105156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41848" y="2194560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Wine #11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2194560"/>
            <a:ext cx="105156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2194560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2194560"/>
            <a:ext cx="105156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44967" y="2194560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0.911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2578608"/>
            <a:ext cx="105156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41848" y="2578608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Wine #51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578608"/>
            <a:ext cx="105156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3408" y="2578608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35240" y="2578608"/>
            <a:ext cx="105156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44967" y="2578608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0.892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32120" y="2962656"/>
            <a:ext cx="105156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41848" y="2962656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Wine #6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2962656"/>
            <a:ext cx="105156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3408" y="2962656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35240" y="2962656"/>
            <a:ext cx="105156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44967" y="2962656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0.883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32120" y="3346703"/>
            <a:ext cx="105156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41848" y="3346703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Wine #14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0" y="3346703"/>
            <a:ext cx="105156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3408" y="3346703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35240" y="3346703"/>
            <a:ext cx="105156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4967" y="3346703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0.861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32120" y="3730752"/>
            <a:ext cx="105156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41848" y="3730752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Wine #10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0" y="3730752"/>
            <a:ext cx="105156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93408" y="3730752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35240" y="3730752"/>
            <a:ext cx="1051560" cy="3840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44967" y="3730752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945"/>
                </a:solidFill>
              </a:rPr>
              <a:t>0.855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WINE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Similarity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K-Nearest Neighbors  |  Cosine Similarity on Chemical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04/04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ALL WINES IN PCA SPACE, COLORED BY CULTIVAR</a:t>
            </a:r>
          </a:p>
        </p:txBody>
      </p:sp>
      <p:pic>
        <p:nvPicPr>
          <p:cNvPr id="10" name="Picture 9" descr="pca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737360"/>
            <a:ext cx="6858000" cy="53002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