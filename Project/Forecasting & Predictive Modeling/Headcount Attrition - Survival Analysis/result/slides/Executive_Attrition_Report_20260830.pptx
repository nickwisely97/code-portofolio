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1,470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Employees analyzed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1176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16.1%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Historical attrition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1,233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Active &amp; scored for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9128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9128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0.846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Test concordance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45536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MODEL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56432"/>
            <a:ext cx="4014215" cy="241401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56432"/>
            <a:ext cx="54864" cy="241401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712463"/>
            <a:ext cx="3502151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945"/>
                </a:solidFill>
              </a:rPr>
              <a:t>Concordance 0.849 train / 0.846 test -- consistent, no overfitting.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Final model refit on all 1,470 employees after validation.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Proportional-hazards assumption checked per covariate before trusting hazard ratios.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3145536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HEADLINE FINDINGS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72583" y="3456432"/>
            <a:ext cx="4014215" cy="241401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72583" y="3456432"/>
            <a:ext cx="54864" cy="241401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7" y="3712463"/>
            <a:ext cx="350215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945"/>
                </a:solidFill>
              </a:rPr>
              <a:t>Strongest driver: Over Time (Yes) -- hazard x2.20.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Top at-risk employee: ID 2021 -- 25% predicted chance of leaving within a year.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Top 15 at-risk employees identified for targeted retention outreach.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Drives Attrition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813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HAZARD RATIO PLOT</a:t>
            </a:r>
          </a:p>
        </p:txBody>
      </p:sp>
      <p:pic>
        <p:nvPicPr>
          <p:cNvPr id="10" name="Picture 9" descr="hazard_ratio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29200" cy="335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HAZARD RATIOS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3767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3767328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929384"/>
            <a:ext cx="2487168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Over Time (Yes)</a:t>
            </a:r>
          </a:p>
          <a:p>
            <a:pPr algn="l"/>
            <a:r>
              <a:rPr sz="1400" b="0" i="0">
                <a:solidFill>
                  <a:srgbClr val="B0413E"/>
                </a:solidFill>
              </a:rPr>
              <a:t>x2.20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Age</a:t>
            </a:r>
          </a:p>
          <a:p>
            <a:pPr algn="l"/>
            <a:r>
              <a:rPr sz="1400" b="0" i="0">
                <a:solidFill>
                  <a:srgbClr val="2E7D5B"/>
                </a:solidFill>
              </a:rPr>
              <a:t>x0.97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Job Level</a:t>
            </a:r>
          </a:p>
          <a:p>
            <a:pPr algn="l"/>
            <a:r>
              <a:rPr sz="1400" b="0" i="0">
                <a:solidFill>
                  <a:srgbClr val="2E7D5B"/>
                </a:solidFill>
              </a:rPr>
              <a:t>x0.75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Num Companies Worked</a:t>
            </a:r>
          </a:p>
          <a:p>
            <a:pPr algn="l"/>
            <a:r>
              <a:rPr sz="1400" b="0" i="0">
                <a:solidFill>
                  <a:srgbClr val="B0413E"/>
                </a:solidFill>
              </a:rPr>
              <a:t>x1.09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Monthly Income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x1.00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Years Since Last Promotion</a:t>
            </a:r>
          </a:p>
          <a:p>
            <a:pPr algn="l"/>
            <a:r>
              <a:rPr sz="1400" b="0" i="0">
                <a:solidFill>
                  <a:srgbClr val="2E7D5B"/>
                </a:solidFill>
              </a:rPr>
              <a:t>x0.95 hazard  ·  p =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41848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Hazard ratio above 1.0 raises resignation risk (red); below 1.0 lowers it (green). 1.0 = no effect.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Retention by Overtime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4828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KAPLAN-MEIER SURVIVAL CURVES</a:t>
            </a:r>
          </a:p>
        </p:txBody>
      </p:sp>
      <p:pic>
        <p:nvPicPr>
          <p:cNvPr id="10" name="Picture 9" descr="km_over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29200" cy="3771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SIGNIFICANCE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16733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16733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956816"/>
            <a:ext cx="2487168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p = 1.6e-19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Log-rank test -- the retention gap between overtime and non-overtime employees is statistically significant.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3630168"/>
            <a:ext cx="2944368" cy="189280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3630168"/>
            <a:ext cx="54864" cy="1892807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3813048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772F"/>
                </a:solidFill>
              </a:rPr>
              <a:t>SO 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4114800"/>
            <a:ext cx="248716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</a:rPr>
              <a:t>Overtime is the single most directly actionable factor found.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41848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Curves show the share of employees still employed over time, split by overtime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Who Is at Risk Right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TOP 15 EMPLOYEES BY 1-YEAR LEAVE PROBABILITY</a:t>
            </a:r>
          </a:p>
        </p:txBody>
      </p:sp>
      <p:pic>
        <p:nvPicPr>
          <p:cNvPr id="10" name="Picture 9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55648"/>
            <a:ext cx="7872983" cy="28117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4626864"/>
            <a:ext cx="2642616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626864"/>
            <a:ext cx="54864" cy="131673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4700016"/>
            <a:ext cx="23865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1,233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Current employees scored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5264" y="4626864"/>
            <a:ext cx="2642616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55264" y="4626864"/>
            <a:ext cx="54864" cy="1316736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4700016"/>
            <a:ext cx="23865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0413E"/>
                </a:solidFill>
              </a:rPr>
              <a:t>8.19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Highest risk score vs. median 0.98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4626864"/>
            <a:ext cx="2642616" cy="127101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3328" y="4626864"/>
            <a:ext cx="54864" cy="127101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800600"/>
            <a:ext cx="2185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772F"/>
                </a:solidFill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084064"/>
            <a:ext cx="218541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</a:rPr>
              <a:t>Open retention conversations with the 15 employees shown above.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45336"/>
            <a:ext cx="8229600" cy="9418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45336"/>
            <a:ext cx="54864" cy="941832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700784"/>
            <a:ext cx="7671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772F"/>
                </a:solidFill>
              </a:rPr>
              <a:t>PRIORITY ACTION</a:t>
            </a:r>
          </a:p>
          <a:p>
            <a:pPr algn="l"/>
            <a:r>
              <a:rPr sz="1600" b="0" i="0">
                <a:solidFill>
                  <a:srgbClr val="1F2933"/>
                </a:solidFill>
              </a:rPr>
              <a:t>Prioritize retention conversations with the top 15 employees flagged in this report.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15768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KEY HAZARD DRIVERS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99816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99816"/>
            <a:ext cx="54864" cy="137160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191256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413E"/>
                </a:solidFill>
              </a:rPr>
              <a:t>RISK</a:t>
            </a:r>
          </a:p>
          <a:p>
            <a:pPr algn="l"/>
            <a:r>
              <a:rPr sz="1800" b="1" i="0">
                <a:solidFill>
                  <a:srgbClr val="14324B"/>
                </a:solidFill>
              </a:rPr>
              <a:t>Over Time (Yes)</a:t>
            </a:r>
          </a:p>
          <a:p>
            <a:pPr algn="l"/>
            <a:r>
              <a:rPr sz="1400" b="0" i="0">
                <a:solidFill>
                  <a:srgbClr val="44515E"/>
                </a:solidFill>
              </a:rPr>
              <a:t>Raises hazard by 120%.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72583" y="3099816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72583" y="3099816"/>
            <a:ext cx="54864" cy="137160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7" y="3191256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413E"/>
                </a:solidFill>
              </a:rPr>
              <a:t>RISK</a:t>
            </a:r>
          </a:p>
          <a:p>
            <a:pPr algn="l"/>
            <a:r>
              <a:rPr sz="1800" b="1" i="0">
                <a:solidFill>
                  <a:srgbClr val="14324B"/>
                </a:solidFill>
              </a:rPr>
              <a:t>Marital Status Single</a:t>
            </a:r>
          </a:p>
          <a:p>
            <a:pPr algn="l"/>
            <a:r>
              <a:rPr sz="1400" b="0" i="0">
                <a:solidFill>
                  <a:srgbClr val="44515E"/>
                </a:solidFill>
              </a:rPr>
              <a:t>Raises hazard by 47%.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45152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45152"/>
            <a:ext cx="54864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736592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5B"/>
                </a:solidFill>
              </a:rPr>
              <a:t>PROTECTIVE</a:t>
            </a:r>
          </a:p>
          <a:p>
            <a:pPr algn="l"/>
            <a:r>
              <a:rPr sz="1800" b="1" i="0">
                <a:solidFill>
                  <a:srgbClr val="14324B"/>
                </a:solidFill>
              </a:rPr>
              <a:t>Job Level</a:t>
            </a:r>
          </a:p>
          <a:p>
            <a:pPr algn="l"/>
            <a:r>
              <a:rPr sz="1400" b="0" i="0">
                <a:solidFill>
                  <a:srgbClr val="44515E"/>
                </a:solidFill>
              </a:rPr>
              <a:t>Lowers hazard by 25% per unit increase.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2583" y="4645152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72583" y="4645152"/>
            <a:ext cx="54864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7" y="4736592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5B"/>
                </a:solidFill>
              </a:rPr>
              <a:t>PROTECTIVE</a:t>
            </a:r>
          </a:p>
          <a:p>
            <a:pPr algn="l"/>
            <a:r>
              <a:rPr sz="1800" b="1" i="0">
                <a:solidFill>
                  <a:srgbClr val="14324B"/>
                </a:solidFill>
              </a:rPr>
              <a:t>Stock Option Level</a:t>
            </a:r>
          </a:p>
          <a:p>
            <a:pPr algn="l"/>
            <a:r>
              <a:rPr sz="1400" b="0" i="0">
                <a:solidFill>
                  <a:srgbClr val="44515E"/>
                </a:solidFill>
              </a:rPr>
              <a:t>Lowers hazard by 15% per unit increase.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