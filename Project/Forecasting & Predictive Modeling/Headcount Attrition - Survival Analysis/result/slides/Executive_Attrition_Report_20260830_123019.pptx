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16152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16152"/>
            <a:ext cx="9144000" cy="64008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245352"/>
            <a:ext cx="8229600" cy="9144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3464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</a:rPr>
              <a:t>EXECUTIVE REPORT   |   SURVIVAL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"/>
            <a:ext cx="787298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45936"/>
            <a:ext cx="6099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8A5"/>
                </a:solidFill>
              </a:rPr>
              <a:t>Cox Proportional Hazards Model  |  Headcount Attrition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6" y="6345936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324B"/>
                </a:solidFill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1938528" cy="131673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00200"/>
            <a:ext cx="54864" cy="1316736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673352"/>
            <a:ext cx="168249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324B"/>
                </a:solidFill>
              </a:rPr>
              <a:t>1,470</a:t>
            </a:r>
          </a:p>
          <a:p>
            <a:pPr algn="l"/>
            <a:r>
              <a:rPr sz="1400" b="0" i="0">
                <a:solidFill>
                  <a:srgbClr val="6B7C8C"/>
                </a:solidFill>
              </a:rPr>
              <a:t>Employees analyzed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51176" y="1600200"/>
            <a:ext cx="1938528" cy="131673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51176" y="1600200"/>
            <a:ext cx="54864" cy="1316736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1673352"/>
            <a:ext cx="168249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324B"/>
                </a:solidFill>
              </a:rPr>
              <a:t>16.1%</a:t>
            </a:r>
          </a:p>
          <a:p>
            <a:pPr algn="l"/>
            <a:r>
              <a:rPr sz="1400" b="0" i="0">
                <a:solidFill>
                  <a:srgbClr val="6B7C8C"/>
                </a:solidFill>
              </a:rPr>
              <a:t>Historical attrition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45152" y="1600200"/>
            <a:ext cx="1938528" cy="131673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45152" y="1600200"/>
            <a:ext cx="54864" cy="1316736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1456" y="1673352"/>
            <a:ext cx="168249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324B"/>
                </a:solidFill>
              </a:rPr>
              <a:t>1,233</a:t>
            </a:r>
          </a:p>
          <a:p>
            <a:pPr algn="l"/>
            <a:r>
              <a:rPr sz="1400" b="0" i="0">
                <a:solidFill>
                  <a:srgbClr val="6B7C8C"/>
                </a:solidFill>
              </a:rPr>
              <a:t>Active &amp; scored for risk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39128" y="1600200"/>
            <a:ext cx="1938528" cy="131673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39128" y="1600200"/>
            <a:ext cx="54864" cy="1316736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2" y="1673352"/>
            <a:ext cx="168249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324B"/>
                </a:solidFill>
              </a:rPr>
              <a:t>0.846</a:t>
            </a:r>
          </a:p>
          <a:p>
            <a:pPr algn="l"/>
            <a:r>
              <a:rPr sz="1400" b="0" i="0">
                <a:solidFill>
                  <a:srgbClr val="6B7C8C"/>
                </a:solidFill>
              </a:rPr>
              <a:t>Test concordance index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145536"/>
            <a:ext cx="4014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MODEL VALIDATION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456432"/>
            <a:ext cx="4014215" cy="241401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456432"/>
            <a:ext cx="54864" cy="2414016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" y="3712463"/>
            <a:ext cx="3502151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945"/>
                </a:solidFill>
              </a:rPr>
              <a:t>Concordance 0.849 train / 0.846 test -- consistent, no overfitting.</a:t>
            </a:r>
          </a:p>
          <a:p>
            <a:pPr algn="l"/>
            <a:r>
              <a:rPr sz="1600" b="0" i="0">
                <a:solidFill>
                  <a:srgbClr val="2C3945"/>
                </a:solidFill>
              </a:rPr>
              <a:t>Final model refit on all 1,470 employees after validation.</a:t>
            </a:r>
          </a:p>
          <a:p>
            <a:pPr algn="l"/>
            <a:r>
              <a:rPr sz="1600" b="0" i="0">
                <a:solidFill>
                  <a:srgbClr val="2C3945"/>
                </a:solidFill>
              </a:rPr>
              <a:t>Proportional-hazards assumption checked per covariate before trusting hazard ratios.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72583" y="3145536"/>
            <a:ext cx="4014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HEADLINE FINDINGS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72583" y="3456432"/>
            <a:ext cx="4014215" cy="241401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72583" y="3456432"/>
            <a:ext cx="54864" cy="2414016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7" y="3712463"/>
            <a:ext cx="3502151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945"/>
                </a:solidFill>
              </a:rPr>
              <a:t>Strongest driver: Over Time (Yes) -- hazard x2.20.</a:t>
            </a:r>
          </a:p>
          <a:p>
            <a:pPr algn="l"/>
            <a:r>
              <a:rPr sz="1600" b="0" i="0">
                <a:solidFill>
                  <a:srgbClr val="2C3945"/>
                </a:solidFill>
              </a:rPr>
              <a:t>Top at-risk employee: ID 2021 -- 25% predicted chance of leaving within a year.</a:t>
            </a:r>
          </a:p>
          <a:p>
            <a:pPr algn="l"/>
            <a:r>
              <a:rPr sz="1600" b="0" i="0">
                <a:solidFill>
                  <a:srgbClr val="2C3945"/>
                </a:solidFill>
              </a:rPr>
              <a:t>Top 15 at-risk employees identified for targeted retention outreach.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16152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16152"/>
            <a:ext cx="9144000" cy="64008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245352"/>
            <a:ext cx="8229600" cy="9144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3464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</a:rPr>
              <a:t>EXECUTIVE REPORT   |   SURVIVAL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"/>
            <a:ext cx="787298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Drives Attrition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45936"/>
            <a:ext cx="6099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8A5"/>
                </a:solidFill>
              </a:rPr>
              <a:t>Cox Proportional Hazards Model  |  Headcount Attrition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6" y="6345936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324B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3813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COEFFICIENT PLOT</a:t>
            </a:r>
          </a:p>
        </p:txBody>
      </p:sp>
      <p:pic>
        <p:nvPicPr>
          <p:cNvPr id="10" name="Picture 9" descr="cox_hazard_rat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55648"/>
            <a:ext cx="5029200" cy="3771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42432" y="1444752"/>
            <a:ext cx="3044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HAZARD RATIOS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42432" y="1755648"/>
            <a:ext cx="2944368" cy="376732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42432" y="1755648"/>
            <a:ext cx="54864" cy="3767328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98464" y="1929384"/>
            <a:ext cx="2487168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324B"/>
                </a:solidFill>
              </a:rPr>
              <a:t>Over Time (Yes)</a:t>
            </a:r>
          </a:p>
          <a:p>
            <a:pPr algn="l"/>
            <a:r>
              <a:rPr sz="1400" b="0" i="0">
                <a:solidFill>
                  <a:srgbClr val="B0413E"/>
                </a:solidFill>
              </a:rPr>
              <a:t>x2.20 hazard  ·  p = 0.000</a:t>
            </a:r>
          </a:p>
          <a:p>
            <a:pPr algn="l"/>
            <a:r>
              <a:rPr sz="1400" b="1" i="0">
                <a:solidFill>
                  <a:srgbClr val="14324B"/>
                </a:solidFill>
              </a:rPr>
              <a:t>Age</a:t>
            </a:r>
          </a:p>
          <a:p>
            <a:pPr algn="l"/>
            <a:r>
              <a:rPr sz="1400" b="0" i="0">
                <a:solidFill>
                  <a:srgbClr val="2E7D5B"/>
                </a:solidFill>
              </a:rPr>
              <a:t>x0.97 hazard  ·  p = 0.000</a:t>
            </a:r>
          </a:p>
          <a:p>
            <a:pPr algn="l"/>
            <a:r>
              <a:rPr sz="1400" b="1" i="0">
                <a:solidFill>
                  <a:srgbClr val="14324B"/>
                </a:solidFill>
              </a:rPr>
              <a:t>Job Level</a:t>
            </a:r>
          </a:p>
          <a:p>
            <a:pPr algn="l"/>
            <a:r>
              <a:rPr sz="1400" b="0" i="0">
                <a:solidFill>
                  <a:srgbClr val="2E7D5B"/>
                </a:solidFill>
              </a:rPr>
              <a:t>x0.75 hazard  ·  p = 0.000</a:t>
            </a:r>
          </a:p>
          <a:p>
            <a:pPr algn="l"/>
            <a:r>
              <a:rPr sz="1400" b="1" i="0">
                <a:solidFill>
                  <a:srgbClr val="14324B"/>
                </a:solidFill>
              </a:rPr>
              <a:t>Num Companies Worked</a:t>
            </a:r>
          </a:p>
          <a:p>
            <a:pPr algn="l"/>
            <a:r>
              <a:rPr sz="1400" b="0" i="0">
                <a:solidFill>
                  <a:srgbClr val="B0413E"/>
                </a:solidFill>
              </a:rPr>
              <a:t>x1.09 hazard  ·  p = 0.000</a:t>
            </a:r>
          </a:p>
          <a:p>
            <a:pPr algn="l"/>
            <a:r>
              <a:rPr sz="1400" b="1" i="0">
                <a:solidFill>
                  <a:srgbClr val="14324B"/>
                </a:solidFill>
              </a:rPr>
              <a:t>Monthly Income</a:t>
            </a:r>
          </a:p>
          <a:p>
            <a:pPr algn="l"/>
            <a:r>
              <a:rPr sz="1400" b="0" i="0">
                <a:solidFill>
                  <a:srgbClr val="6B7C8C"/>
                </a:solidFill>
              </a:rPr>
              <a:t>x1.00 hazard  ·  p = 0.000</a:t>
            </a:r>
          </a:p>
          <a:p>
            <a:pPr algn="l"/>
            <a:r>
              <a:rPr sz="1400" b="1" i="0">
                <a:solidFill>
                  <a:srgbClr val="14324B"/>
                </a:solidFill>
              </a:rPr>
              <a:t>Years Since Last Promotion</a:t>
            </a:r>
          </a:p>
          <a:p>
            <a:pPr algn="l"/>
            <a:r>
              <a:rPr sz="1400" b="0" i="0">
                <a:solidFill>
                  <a:srgbClr val="2E7D5B"/>
                </a:solidFill>
              </a:rPr>
              <a:t>x0.95 hazard  ·  p = 0.001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641848"/>
            <a:ext cx="5029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8A5"/>
                </a:solidFill>
              </a:rPr>
              <a:t>Hazard ratio above 1.0 raises resignation risk; below 1.0 lowers it. Forest plot shows 95% confidence intervals.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16152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16152"/>
            <a:ext cx="9144000" cy="64008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245352"/>
            <a:ext cx="8229600" cy="9144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3464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</a:rPr>
              <a:t>EXECUTIVE REPORT   |   SURVIVAL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"/>
            <a:ext cx="787298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Retention by Overtime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45936"/>
            <a:ext cx="6099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8A5"/>
                </a:solidFill>
              </a:rPr>
              <a:t>Cox Proportional Hazards Model  |  Headcount Attrition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6" y="6345936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324B"/>
                </a:solidFill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4828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KAPLAN-MEIER SURVIVAL CURVES</a:t>
            </a:r>
          </a:p>
        </p:txBody>
      </p:sp>
      <p:pic>
        <p:nvPicPr>
          <p:cNvPr id="10" name="Picture 9" descr="km_over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55648"/>
            <a:ext cx="5029200" cy="3771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42432" y="1444752"/>
            <a:ext cx="3044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SIGNIFICANCE 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42432" y="1755648"/>
            <a:ext cx="2944368" cy="167335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42432" y="1755648"/>
            <a:ext cx="54864" cy="1673352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98464" y="1956816"/>
            <a:ext cx="2487168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324B"/>
                </a:solidFill>
              </a:rPr>
              <a:t>p = 1.6e-19</a:t>
            </a:r>
          </a:p>
          <a:p>
            <a:pPr algn="l"/>
            <a:r>
              <a:rPr sz="1400" b="0" i="0">
                <a:solidFill>
                  <a:srgbClr val="6B7C8C"/>
                </a:solidFill>
              </a:rPr>
              <a:t>Log-rank test -- the retention gap between overtime and non-overtime employees is statistically significant.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42432" y="3630168"/>
            <a:ext cx="2944368" cy="1892807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42432" y="3630168"/>
            <a:ext cx="54864" cy="1892807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98464" y="3813048"/>
            <a:ext cx="2487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772F"/>
                </a:solidFill>
              </a:rPr>
              <a:t>SO WHAT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98464" y="4114800"/>
            <a:ext cx="2487168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2933"/>
                </a:solidFill>
              </a:rPr>
              <a:t>Overtime is the single most directly actionable factor found.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641848"/>
            <a:ext cx="5029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8A5"/>
                </a:solidFill>
              </a:rPr>
              <a:t>Curves show the share of employees still employed over time, split by overtime status.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16152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16152"/>
            <a:ext cx="9144000" cy="64008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245352"/>
            <a:ext cx="8229600" cy="9144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3464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</a:rPr>
              <a:t>EXECUTIVE REPORT   |   SURVIVAL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"/>
            <a:ext cx="787298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Who Is at Risk Right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45936"/>
            <a:ext cx="6099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8A5"/>
                </a:solidFill>
              </a:rPr>
              <a:t>Cox Proportional Hazards Model  |  Headcount Attrition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6" y="6345936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324B"/>
                </a:solidFill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6099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TOP 15 EMPLOYEES BY 1-YEAR LEAVE PROBABILITY</a:t>
            </a:r>
          </a:p>
        </p:txBody>
      </p:sp>
      <p:pic>
        <p:nvPicPr>
          <p:cNvPr id="10" name="Picture 9" descr="risk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755648"/>
            <a:ext cx="7872983" cy="28117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57200" y="4626864"/>
            <a:ext cx="2642616" cy="131673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4626864"/>
            <a:ext cx="54864" cy="1316736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4700016"/>
            <a:ext cx="2386584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324B"/>
                </a:solidFill>
              </a:rPr>
              <a:t>1,233</a:t>
            </a:r>
          </a:p>
          <a:p>
            <a:pPr algn="l"/>
            <a:r>
              <a:rPr sz="1400" b="0" i="0">
                <a:solidFill>
                  <a:srgbClr val="6B7C8C"/>
                </a:solidFill>
              </a:rPr>
              <a:t>Current employees scored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55264" y="4626864"/>
            <a:ext cx="2642616" cy="131673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55264" y="4626864"/>
            <a:ext cx="54864" cy="1316736"/>
          </a:xfrm>
          <a:prstGeom prst="rect">
            <a:avLst/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01568" y="4700016"/>
            <a:ext cx="2386584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B0413E"/>
                </a:solidFill>
              </a:rPr>
              <a:t>8.19</a:t>
            </a:r>
          </a:p>
          <a:p>
            <a:pPr algn="l"/>
            <a:r>
              <a:rPr sz="1400" b="0" i="0">
                <a:solidFill>
                  <a:srgbClr val="6B7C8C"/>
                </a:solidFill>
              </a:rPr>
              <a:t>Highest risk score vs. median 0.98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53328" y="4626864"/>
            <a:ext cx="2642616" cy="127101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53328" y="4626864"/>
            <a:ext cx="54864" cy="1271016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4800600"/>
            <a:ext cx="21854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772F"/>
                </a:solidFill>
              </a:rPr>
              <a:t>NEXT STEP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5084064"/>
            <a:ext cx="2185416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3"/>
                </a:solidFill>
              </a:rPr>
              <a:t>Open retention conversations with the 15 employees shown above.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16152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16152"/>
            <a:ext cx="9144000" cy="64008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245352"/>
            <a:ext cx="8229600" cy="9144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3464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</a:rPr>
              <a:t>EXECUTIVE REPORT   |   SURVIVAL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"/>
            <a:ext cx="787298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45936"/>
            <a:ext cx="6099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8A5"/>
                </a:solidFill>
              </a:rPr>
              <a:t>Cox Proportional Hazards Model  |  Headcount Attrition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6" y="6345936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324B"/>
                </a:solidFill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45336"/>
            <a:ext cx="8229600" cy="9418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45336"/>
            <a:ext cx="54864" cy="941832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700784"/>
            <a:ext cx="767181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772F"/>
                </a:solidFill>
              </a:rPr>
              <a:t>PRIORITY ACTION</a:t>
            </a:r>
          </a:p>
          <a:p>
            <a:pPr algn="l"/>
            <a:r>
              <a:rPr sz="1600" b="0" i="0">
                <a:solidFill>
                  <a:srgbClr val="1F2933"/>
                </a:solidFill>
              </a:rPr>
              <a:t>Prioritize retention conversations with the top 15 employees flagged in this report.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15768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KEY HAZARD DRIVERS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99816"/>
            <a:ext cx="4014215" cy="13716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099816"/>
            <a:ext cx="54864" cy="1371600"/>
          </a:xfrm>
          <a:prstGeom prst="rect">
            <a:avLst/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" y="3191256"/>
            <a:ext cx="34655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0413E"/>
                </a:solidFill>
              </a:rPr>
              <a:t>RISK</a:t>
            </a:r>
          </a:p>
          <a:p>
            <a:pPr algn="l"/>
            <a:r>
              <a:rPr sz="1800" b="1" i="0">
                <a:solidFill>
                  <a:srgbClr val="14324B"/>
                </a:solidFill>
              </a:rPr>
              <a:t>Over Time (Yes)</a:t>
            </a:r>
          </a:p>
          <a:p>
            <a:pPr algn="l"/>
            <a:r>
              <a:rPr sz="1400" b="0" i="0">
                <a:solidFill>
                  <a:srgbClr val="44515E"/>
                </a:solidFill>
              </a:rPr>
              <a:t>Raises hazard by 120%.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72583" y="3099816"/>
            <a:ext cx="4014215" cy="13716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72583" y="3099816"/>
            <a:ext cx="54864" cy="1371600"/>
          </a:xfrm>
          <a:prstGeom prst="rect">
            <a:avLst/>
          </a:prstGeom>
          <a:solidFill>
            <a:srgbClr val="B04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6047" y="3191256"/>
            <a:ext cx="34655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0413E"/>
                </a:solidFill>
              </a:rPr>
              <a:t>RISK</a:t>
            </a:r>
          </a:p>
          <a:p>
            <a:pPr algn="l"/>
            <a:r>
              <a:rPr sz="1800" b="1" i="0">
                <a:solidFill>
                  <a:srgbClr val="14324B"/>
                </a:solidFill>
              </a:rPr>
              <a:t>Marital Status Single</a:t>
            </a:r>
          </a:p>
          <a:p>
            <a:pPr algn="l"/>
            <a:r>
              <a:rPr sz="1400" b="0" i="0">
                <a:solidFill>
                  <a:srgbClr val="44515E"/>
                </a:solidFill>
              </a:rPr>
              <a:t>Raises hazard by 47%.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645152"/>
            <a:ext cx="4014215" cy="13716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645152"/>
            <a:ext cx="54864" cy="13716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" y="4736592"/>
            <a:ext cx="34655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5B"/>
                </a:solidFill>
              </a:rPr>
              <a:t>PROTECTIVE</a:t>
            </a:r>
          </a:p>
          <a:p>
            <a:pPr algn="l"/>
            <a:r>
              <a:rPr sz="1800" b="1" i="0">
                <a:solidFill>
                  <a:srgbClr val="14324B"/>
                </a:solidFill>
              </a:rPr>
              <a:t>Job Level</a:t>
            </a:r>
          </a:p>
          <a:p>
            <a:pPr algn="l"/>
            <a:r>
              <a:rPr sz="1400" b="0" i="0">
                <a:solidFill>
                  <a:srgbClr val="44515E"/>
                </a:solidFill>
              </a:rPr>
              <a:t>Lowers hazard by 25% per unit increase.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72583" y="4645152"/>
            <a:ext cx="4014215" cy="13716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72583" y="4645152"/>
            <a:ext cx="54864" cy="13716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7" y="4736592"/>
            <a:ext cx="34655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5B"/>
                </a:solidFill>
              </a:rPr>
              <a:t>PROTECTIVE</a:t>
            </a:r>
          </a:p>
          <a:p>
            <a:pPr algn="l"/>
            <a:r>
              <a:rPr sz="1800" b="1" i="0">
                <a:solidFill>
                  <a:srgbClr val="14324B"/>
                </a:solidFill>
              </a:rPr>
              <a:t>Stock Option Level</a:t>
            </a:r>
          </a:p>
          <a:p>
            <a:pPr algn="l"/>
            <a:r>
              <a:rPr sz="1400" b="0" i="0">
                <a:solidFill>
                  <a:srgbClr val="44515E"/>
                </a:solidFill>
              </a:rPr>
              <a:t>Lowers hazard by 15% per unit increase.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