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2743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- 1470 employees analyzed, 16.1% historical attrition rate.</a:t>
            </a:r>
          </a:p>
          <a:p>
            <a:pPr>
              <a:defRPr sz="1400"/>
            </a:pPr>
            <a:r>
              <a:t>- 1233 employees currently active and scored for resignation risk.</a:t>
            </a:r>
          </a:p>
          <a:p>
            <a:pPr>
              <a:defRPr sz="1400"/>
            </a:pPr>
            <a:r>
              <a:t>- Model validated at 0.846 concordance on held-out data (0.5 = random, 1.0 = perfect ranking).</a:t>
            </a:r>
          </a:p>
          <a:p>
            <a:pPr>
              <a:defRPr sz="1400"/>
            </a:pPr>
            <a:r>
              <a:t>- Strongest driver: Over Time (Yes) (hazard x2.20).</a:t>
            </a:r>
          </a:p>
          <a:p>
            <a:pPr>
              <a:defRPr sz="1400"/>
            </a:pPr>
            <a:r>
              <a:t>- Top at-risk employee: ID 2021, 25% predicted chance of leaving within a year.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Model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2743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- Train concordance index: 0.849</a:t>
            </a:r>
          </a:p>
          <a:p>
            <a:pPr>
              <a:defRPr sz="1400"/>
            </a:pPr>
            <a:r>
              <a:t>- Test concordance index: 0.846</a:t>
            </a:r>
          </a:p>
          <a:p>
            <a:pPr>
              <a:defRPr sz="1400"/>
            </a:pPr>
            <a:r>
              <a:t>- Final model refit on all 1470 employees after validation.</a:t>
            </a:r>
          </a:p>
          <a:p>
            <a:pPr>
              <a:defRPr sz="1400"/>
            </a:pPr>
            <a:r>
              <a:t>- Proportional hazards assumption checked per covariate (see notebook STEP 05 for details).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What Drives Attrition</a:t>
            </a:r>
          </a:p>
        </p:txBody>
      </p:sp>
      <p:pic>
        <p:nvPicPr>
          <p:cNvPr id="3" name="Picture 2" descr="cox_hazard_rat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4864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35040" y="1188720"/>
            <a:ext cx="2743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- Over Time (Yes): hazard x2.20 (p=0.000)</a:t>
            </a:r>
          </a:p>
          <a:p>
            <a:pPr>
              <a:defRPr sz="1400"/>
            </a:pPr>
            <a:r>
              <a:t>- Age: hazard x0.97 (p=0.000)</a:t>
            </a:r>
          </a:p>
          <a:p>
            <a:pPr>
              <a:defRPr sz="1400"/>
            </a:pPr>
            <a:r>
              <a:t>- Job Level: hazard x0.75 (p=0.000)</a:t>
            </a:r>
          </a:p>
          <a:p>
            <a:pPr>
              <a:defRPr sz="1400"/>
            </a:pPr>
            <a:r>
              <a:t>- Num Companies Worked: hazard x1.09 (p=0.000)</a:t>
            </a:r>
          </a:p>
          <a:p>
            <a:pPr>
              <a:defRPr sz="1400"/>
            </a:pPr>
            <a:r>
              <a:t>- Monthly Income: hazard x1.00 (p=0.000)</a:t>
            </a:r>
          </a:p>
          <a:p>
            <a:pPr>
              <a:defRPr sz="1400"/>
            </a:pPr>
            <a:r>
              <a:t>- Years Since Last Promotion: hazard x0.95 (p=0.001)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Retention by Overtime Status</a:t>
            </a:r>
          </a:p>
        </p:txBody>
      </p:sp>
      <p:pic>
        <p:nvPicPr>
          <p:cNvPr id="3" name="Picture 2" descr="km_over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4864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35040" y="1188720"/>
            <a:ext cx="2743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- Log-rank test p = 1.6e-19 -- the retention gap is statistically significant.</a:t>
            </a:r>
          </a:p>
          <a:p>
            <a:pPr>
              <a:defRPr sz="1400"/>
            </a:pPr>
            <a:r>
              <a:t>- Overtime is the single most directly actionable factor found.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Who Is at Risk Right Now</a:t>
            </a:r>
          </a:p>
        </p:txBody>
      </p:sp>
      <p:pic>
        <p:nvPicPr>
          <p:cNvPr id="3" name="Picture 2" descr="risk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486400" cy="19594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35040" y="1188720"/>
            <a:ext cx="2743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- 1233 current employees scored; top 15 shown ranked by 1-year leave probability.</a:t>
            </a:r>
          </a:p>
          <a:p>
            <a:pPr>
              <a:defRPr sz="1400"/>
            </a:pPr>
            <a:r>
              <a:t>- Highest risk score: 8.19 vs. median 0.98.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2743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- Prioritize retention conversations with the top 15 employees flagged above.</a:t>
            </a:r>
          </a:p>
          <a:p>
            <a:pPr>
              <a:defRPr sz="1400"/>
            </a:pPr>
            <a:r>
              <a:t>- Address Over Time (Yes): raises hazard by 120%.</a:t>
            </a:r>
          </a:p>
          <a:p>
            <a:pPr>
              <a:defRPr sz="1400"/>
            </a:pPr>
            <a:r>
              <a:t>- Age is protective: lowers hazard by 3%.</a:t>
            </a:r>
          </a:p>
          <a:p>
            <a:pPr>
              <a:defRPr sz="1400"/>
            </a:pPr>
            <a:r>
              <a:t>- Job Level is protective: lowers hazard by 25%.</a:t>
            </a:r>
          </a:p>
          <a:p>
            <a:pPr>
              <a:defRPr sz="1400"/>
            </a:pPr>
            <a:r>
              <a:t>- Address Num Companies Worked: raises hazard by 9%.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