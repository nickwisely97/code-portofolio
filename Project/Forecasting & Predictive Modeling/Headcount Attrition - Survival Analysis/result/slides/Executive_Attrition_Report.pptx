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052826-8610-49D1-8D95-C408E5538021}" v="1" dt="2026-08-30T05:08:24.7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06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k Wisely" userId="a459e8a3726ef50c" providerId="LiveId" clId="{19D5AA45-A625-4438-8C3B-94A22A51738B}"/>
    <pc:docChg chg="custSel addSld delSld modSld">
      <pc:chgData name="Nick Wisely" userId="a459e8a3726ef50c" providerId="LiveId" clId="{19D5AA45-A625-4438-8C3B-94A22A51738B}" dt="2026-08-30T05:18:28.191" v="43"/>
      <pc:docMkLst>
        <pc:docMk/>
      </pc:docMkLst>
      <pc:sldChg chg="del">
        <pc:chgData name="Nick Wisely" userId="a459e8a3726ef50c" providerId="LiveId" clId="{19D5AA45-A625-4438-8C3B-94A22A51738B}" dt="2026-08-30T05:14:24.016" v="9"/>
        <pc:sldMkLst>
          <pc:docMk/>
          <pc:sldMk cId="0" sldId="256"/>
        </pc:sldMkLst>
      </pc:sldChg>
      <pc:sldChg chg="del">
        <pc:chgData name="Nick Wisely" userId="a459e8a3726ef50c" providerId="LiveId" clId="{19D5AA45-A625-4438-8C3B-94A22A51738B}" dt="2026-08-30T05:14:46.610" v="16"/>
        <pc:sldMkLst>
          <pc:docMk/>
          <pc:sldMk cId="0" sldId="257"/>
        </pc:sldMkLst>
      </pc:sldChg>
      <pc:sldChg chg="del">
        <pc:chgData name="Nick Wisely" userId="a459e8a3726ef50c" providerId="LiveId" clId="{19D5AA45-A625-4438-8C3B-94A22A51738B}" dt="2026-08-30T05:15:45.314" v="18"/>
        <pc:sldMkLst>
          <pc:docMk/>
          <pc:sldMk cId="0" sldId="258"/>
        </pc:sldMkLst>
      </pc:sldChg>
      <pc:sldChg chg="del">
        <pc:chgData name="Nick Wisely" userId="a459e8a3726ef50c" providerId="LiveId" clId="{19D5AA45-A625-4438-8C3B-94A22A51738B}" dt="2026-08-30T05:16:50.708" v="24"/>
        <pc:sldMkLst>
          <pc:docMk/>
          <pc:sldMk cId="0" sldId="259"/>
        </pc:sldMkLst>
      </pc:sldChg>
      <pc:sldChg chg="del">
        <pc:chgData name="Nick Wisely" userId="a459e8a3726ef50c" providerId="LiveId" clId="{19D5AA45-A625-4438-8C3B-94A22A51738B}" dt="2026-08-30T05:17:57.828" v="31"/>
        <pc:sldMkLst>
          <pc:docMk/>
          <pc:sldMk cId="0" sldId="260"/>
        </pc:sldMkLst>
      </pc:sldChg>
      <pc:sldChg chg="del">
        <pc:chgData name="Nick Wisely" userId="a459e8a3726ef50c" providerId="LiveId" clId="{19D5AA45-A625-4438-8C3B-94A22A51738B}" dt="2026-08-30T05:11:09.568" v="1"/>
        <pc:sldMkLst>
          <pc:docMk/>
          <pc:sldMk cId="0" sldId="261"/>
        </pc:sldMkLst>
      </pc:sldChg>
      <pc:sldChg chg="modSp add del mod">
        <pc:chgData name="Nick Wisely" userId="a459e8a3726ef50c" providerId="LiveId" clId="{19D5AA45-A625-4438-8C3B-94A22A51738B}" dt="2026-08-30T05:18:07.159" v="39"/>
        <pc:sldMkLst>
          <pc:docMk/>
          <pc:sldMk cId="3492292071" sldId="262"/>
        </pc:sldMkLst>
        <pc:spChg chg="mod">
          <ac:chgData name="Nick Wisely" userId="a459e8a3726ef50c" providerId="LiveId" clId="{19D5AA45-A625-4438-8C3B-94A22A51738B}" dt="2026-08-30T05:11:10.143" v="5"/>
          <ac:spMkLst>
            <pc:docMk/>
            <pc:sldMk cId="3492292071" sldId="262"/>
            <ac:spMk id="2" creationId="{00000000-0000-0000-0000-000000000000}"/>
          </ac:spMkLst>
        </pc:spChg>
        <pc:spChg chg="mod">
          <ac:chgData name="Nick Wisely" userId="a459e8a3726ef50c" providerId="LiveId" clId="{19D5AA45-A625-4438-8C3B-94A22A51738B}" dt="2026-08-30T05:11:10.147" v="7"/>
          <ac:spMkLst>
            <pc:docMk/>
            <pc:sldMk cId="3492292071" sldId="262"/>
            <ac:spMk id="3" creationId="{00000000-0000-0000-0000-000000000000}"/>
          </ac:spMkLst>
        </pc:spChg>
        <pc:spChg chg="mod">
          <ac:chgData name="Nick Wisely" userId="a459e8a3726ef50c" providerId="LiveId" clId="{19D5AA45-A625-4438-8C3B-94A22A51738B}" dt="2026-08-30T05:11:09.598" v="3" actId="27636"/>
          <ac:spMkLst>
            <pc:docMk/>
            <pc:sldMk cId="3492292071" sldId="262"/>
            <ac:spMk id="102" creationId="{00000000-0000-0000-0000-000000000000}"/>
          </ac:spMkLst>
        </pc:spChg>
        <pc:spChg chg="mod">
          <ac:chgData name="Nick Wisely" userId="a459e8a3726ef50c" providerId="LiveId" clId="{19D5AA45-A625-4438-8C3B-94A22A51738B}" dt="2026-08-30T05:11:09.593" v="2" actId="27636"/>
          <ac:spMkLst>
            <pc:docMk/>
            <pc:sldMk cId="3492292071" sldId="262"/>
            <ac:spMk id="115" creationId="{00000000-0000-0000-0000-000000000000}"/>
          </ac:spMkLst>
        </pc:spChg>
      </pc:sldChg>
      <pc:sldChg chg="modSp add mod">
        <pc:chgData name="Nick Wisely" userId="a459e8a3726ef50c" providerId="LiveId" clId="{19D5AA45-A625-4438-8C3B-94A22A51738B}" dt="2026-08-30T05:14:24.608" v="15"/>
        <pc:sldMkLst>
          <pc:docMk/>
          <pc:sldMk cId="1568335212" sldId="263"/>
        </pc:sldMkLst>
        <pc:spChg chg="mod">
          <ac:chgData name="Nick Wisely" userId="a459e8a3726ef50c" providerId="LiveId" clId="{19D5AA45-A625-4438-8C3B-94A22A51738B}" dt="2026-08-30T05:14:24.604" v="13"/>
          <ac:spMkLst>
            <pc:docMk/>
            <pc:sldMk cId="1568335212" sldId="263"/>
            <ac:spMk id="2" creationId="{00000000-0000-0000-0000-000000000000}"/>
          </ac:spMkLst>
        </pc:spChg>
        <pc:spChg chg="mod">
          <ac:chgData name="Nick Wisely" userId="a459e8a3726ef50c" providerId="LiveId" clId="{19D5AA45-A625-4438-8C3B-94A22A51738B}" dt="2026-08-30T05:14:24.608" v="15"/>
          <ac:spMkLst>
            <pc:docMk/>
            <pc:sldMk cId="1568335212" sldId="263"/>
            <ac:spMk id="3" creationId="{00000000-0000-0000-0000-000000000000}"/>
          </ac:spMkLst>
        </pc:spChg>
        <pc:spChg chg="mod">
          <ac:chgData name="Nick Wisely" userId="a459e8a3726ef50c" providerId="LiveId" clId="{19D5AA45-A625-4438-8C3B-94A22A51738B}" dt="2026-08-30T05:14:24.088" v="11" actId="27636"/>
          <ac:spMkLst>
            <pc:docMk/>
            <pc:sldMk cId="1568335212" sldId="263"/>
            <ac:spMk id="202" creationId="{00000000-0000-0000-0000-000000000000}"/>
          </ac:spMkLst>
        </pc:spChg>
        <pc:spChg chg="mod">
          <ac:chgData name="Nick Wisely" userId="a459e8a3726ef50c" providerId="LiveId" clId="{19D5AA45-A625-4438-8C3B-94A22A51738B}" dt="2026-08-30T05:14:24.078" v="10" actId="27636"/>
          <ac:spMkLst>
            <pc:docMk/>
            <pc:sldMk cId="1568335212" sldId="263"/>
            <ac:spMk id="203" creationId="{00000000-0000-0000-0000-000000000000}"/>
          </ac:spMkLst>
        </pc:spChg>
      </pc:sldChg>
      <pc:sldChg chg="modSp add mod">
        <pc:chgData name="Nick Wisely" userId="a459e8a3726ef50c" providerId="LiveId" clId="{19D5AA45-A625-4438-8C3B-94A22A51738B}" dt="2026-08-30T05:15:45.338" v="22"/>
        <pc:sldMkLst>
          <pc:docMk/>
          <pc:sldMk cId="3097959283" sldId="264"/>
        </pc:sldMkLst>
        <pc:spChg chg="mod">
          <ac:chgData name="Nick Wisely" userId="a459e8a3726ef50c" providerId="LiveId" clId="{19D5AA45-A625-4438-8C3B-94A22A51738B}" dt="2026-08-30T05:15:45.338" v="20"/>
          <ac:spMkLst>
            <pc:docMk/>
            <pc:sldMk cId="3097959283" sldId="264"/>
            <ac:spMk id="2" creationId="{00000000-0000-0000-0000-000000000000}"/>
          </ac:spMkLst>
        </pc:spChg>
        <pc:spChg chg="mod">
          <ac:chgData name="Nick Wisely" userId="a459e8a3726ef50c" providerId="LiveId" clId="{19D5AA45-A625-4438-8C3B-94A22A51738B}" dt="2026-08-30T05:15:45.338" v="22"/>
          <ac:spMkLst>
            <pc:docMk/>
            <pc:sldMk cId="3097959283" sldId="264"/>
            <ac:spMk id="4" creationId="{00000000-0000-0000-0000-000000000000}"/>
          </ac:spMkLst>
        </pc:spChg>
      </pc:sldChg>
      <pc:sldChg chg="modSp add mod">
        <pc:chgData name="Nick Wisely" userId="a459e8a3726ef50c" providerId="LiveId" clId="{19D5AA45-A625-4438-8C3B-94A22A51738B}" dt="2026-08-30T05:16:50.794" v="29"/>
        <pc:sldMkLst>
          <pc:docMk/>
          <pc:sldMk cId="2411773813" sldId="265"/>
        </pc:sldMkLst>
        <pc:spChg chg="mod">
          <ac:chgData name="Nick Wisely" userId="a459e8a3726ef50c" providerId="LiveId" clId="{19D5AA45-A625-4438-8C3B-94A22A51738B}" dt="2026-08-30T05:16:50.790" v="27"/>
          <ac:spMkLst>
            <pc:docMk/>
            <pc:sldMk cId="2411773813" sldId="265"/>
            <ac:spMk id="2" creationId="{00000000-0000-0000-0000-000000000000}"/>
          </ac:spMkLst>
        </pc:spChg>
        <pc:spChg chg="mod">
          <ac:chgData name="Nick Wisely" userId="a459e8a3726ef50c" providerId="LiveId" clId="{19D5AA45-A625-4438-8C3B-94A22A51738B}" dt="2026-08-30T05:16:50.794" v="29"/>
          <ac:spMkLst>
            <pc:docMk/>
            <pc:sldMk cId="2411773813" sldId="265"/>
            <ac:spMk id="4" creationId="{00000000-0000-0000-0000-000000000000}"/>
          </ac:spMkLst>
        </pc:spChg>
        <pc:spChg chg="mod">
          <ac:chgData name="Nick Wisely" userId="a459e8a3726ef50c" providerId="LiveId" clId="{19D5AA45-A625-4438-8C3B-94A22A51738B}" dt="2026-08-30T05:16:50.758" v="25" actId="27636"/>
          <ac:spMkLst>
            <pc:docMk/>
            <pc:sldMk cId="2411773813" sldId="265"/>
            <ac:spMk id="411" creationId="{00000000-0000-0000-0000-000000000000}"/>
          </ac:spMkLst>
        </pc:spChg>
      </pc:sldChg>
      <pc:sldChg chg="modSp add mod">
        <pc:chgData name="Nick Wisely" userId="a459e8a3726ef50c" providerId="LiveId" clId="{19D5AA45-A625-4438-8C3B-94A22A51738B}" dt="2026-08-30T05:18:28.191" v="43"/>
        <pc:sldMkLst>
          <pc:docMk/>
          <pc:sldMk cId="4143077237" sldId="266"/>
        </pc:sldMkLst>
        <pc:spChg chg="mod">
          <ac:chgData name="Nick Wisely" userId="a459e8a3726ef50c" providerId="LiveId" clId="{19D5AA45-A625-4438-8C3B-94A22A51738B}" dt="2026-08-30T05:17:57.911" v="35"/>
          <ac:spMkLst>
            <pc:docMk/>
            <pc:sldMk cId="4143077237" sldId="266"/>
            <ac:spMk id="2" creationId="{00000000-0000-0000-0000-000000000000}"/>
          </ac:spMkLst>
        </pc:spChg>
        <pc:spChg chg="mod">
          <ac:chgData name="Nick Wisely" userId="a459e8a3726ef50c" providerId="LiveId" clId="{19D5AA45-A625-4438-8C3B-94A22A51738B}" dt="2026-08-30T05:17:57.911" v="37"/>
          <ac:spMkLst>
            <pc:docMk/>
            <pc:sldMk cId="4143077237" sldId="266"/>
            <ac:spMk id="4" creationId="{00000000-0000-0000-0000-000000000000}"/>
          </ac:spMkLst>
        </pc:spChg>
        <pc:spChg chg="mod">
          <ac:chgData name="Nick Wisely" userId="a459e8a3726ef50c" providerId="LiveId" clId="{19D5AA45-A625-4438-8C3B-94A22A51738B}" dt="2026-08-30T05:17:57.848" v="32" actId="27636"/>
          <ac:spMkLst>
            <pc:docMk/>
            <pc:sldMk cId="4143077237" sldId="266"/>
            <ac:spMk id="502" creationId="{00000000-0000-0000-0000-000000000000}"/>
          </ac:spMkLst>
        </pc:spChg>
        <pc:spChg chg="mod">
          <ac:chgData name="Nick Wisely" userId="a459e8a3726ef50c" providerId="LiveId" clId="{19D5AA45-A625-4438-8C3B-94A22A51738B}" dt="2026-08-30T05:17:57.848" v="33" actId="27636"/>
          <ac:spMkLst>
            <pc:docMk/>
            <pc:sldMk cId="4143077237" sldId="266"/>
            <ac:spMk id="503" creationId="{00000000-0000-0000-0000-000000000000}"/>
          </ac:spMkLst>
        </pc:spChg>
        <pc:picChg chg="mod">
          <ac:chgData name="Nick Wisely" userId="a459e8a3726ef50c" providerId="LiveId" clId="{19D5AA45-A625-4438-8C3B-94A22A51738B}" dt="2026-08-30T05:18:28.191" v="43"/>
          <ac:picMkLst>
            <pc:docMk/>
            <pc:sldMk cId="4143077237" sldId="266"/>
            <ac:picMk id="3" creationId="{00000000-0000-0000-0000-000000000000}"/>
          </ac:picMkLst>
        </pc:picChg>
      </pc:sldChg>
      <pc:sldChg chg="add">
        <pc:chgData name="Nick Wisely" userId="a459e8a3726ef50c" providerId="LiveId" clId="{19D5AA45-A625-4438-8C3B-94A22A51738B}" dt="2026-08-30T05:18:07.148" v="38"/>
        <pc:sldMkLst>
          <pc:docMk/>
          <pc:sldMk cId="1500844885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rgbClr val="14324B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en-US"/>
          </a:p>
        </p:txBody>
      </p:sp>
      <p:sp>
        <p:nvSpPr>
          <p:cNvPr id="202" name="Shape 202"/>
          <p:cNvSpPr/>
          <p:nvPr/>
        </p:nvSpPr>
        <p:spPr>
          <a:xfrm>
            <a:off x="0" y="1219200"/>
            <a:ext cx="9144000" cy="63500"/>
          </a:xfrm>
          <a:prstGeom prst="rect">
            <a:avLst/>
          </a:prstGeom>
          <a:solidFill>
            <a:srgbClr val="C9772F"/>
          </a:solidFill>
          <a:ln>
            <a:noFill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3" name="Shape 203"/>
          <p:cNvSpPr/>
          <p:nvPr/>
        </p:nvSpPr>
        <p:spPr>
          <a:xfrm>
            <a:off x="457200" y="6248400"/>
            <a:ext cx="8229600" cy="12700"/>
          </a:xfrm>
          <a:prstGeom prst="rect">
            <a:avLst/>
          </a:prstGeom>
          <a:solidFill>
            <a:srgbClr val="DCE3EA"/>
          </a:solidFill>
          <a:ln>
            <a:noFill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7" name="Shape 207"/>
          <p:cNvSpPr/>
          <p:nvPr/>
        </p:nvSpPr>
        <p:spPr>
          <a:xfrm>
            <a:off x="457200" y="1600200"/>
            <a:ext cx="1943100" cy="1320800"/>
          </a:xfrm>
          <a:prstGeom prst="rect">
            <a:avLst/>
          </a:prstGeom>
          <a:solidFill>
            <a:srgbClr val="F8FAFC"/>
          </a:solidFill>
          <a:ln w="12700">
            <a:solidFill>
              <a:srgbClr val="DCE3EA"/>
            </a:solidFill>
          </a:ln>
        </p:spPr>
        <p:txBody>
          <a:bodyPr wrap="square" lIns="203200" tIns="203200" rIns="127000" bIns="101600" anchor="t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14324B"/>
                </a:solidFill>
              </a:rPr>
              <a:t>1,470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6B7C8C"/>
                </a:solidFill>
              </a:rPr>
              <a:t>Employees analyzed</a:t>
            </a:r>
          </a:p>
        </p:txBody>
      </p:sp>
      <p:sp>
        <p:nvSpPr>
          <p:cNvPr id="208" name="Shape 208"/>
          <p:cNvSpPr/>
          <p:nvPr/>
        </p:nvSpPr>
        <p:spPr>
          <a:xfrm>
            <a:off x="457200" y="1600200"/>
            <a:ext cx="50800" cy="1320800"/>
          </a:xfrm>
          <a:prstGeom prst="rect">
            <a:avLst/>
          </a:prstGeom>
          <a:solidFill>
            <a:srgbClr val="C9772F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en-US"/>
          </a:p>
        </p:txBody>
      </p:sp>
      <p:sp>
        <p:nvSpPr>
          <p:cNvPr id="209" name="Shape 209"/>
          <p:cNvSpPr/>
          <p:nvPr/>
        </p:nvSpPr>
        <p:spPr>
          <a:xfrm>
            <a:off x="2552700" y="1600200"/>
            <a:ext cx="1943100" cy="1320800"/>
          </a:xfrm>
          <a:prstGeom prst="rect">
            <a:avLst/>
          </a:prstGeom>
          <a:solidFill>
            <a:srgbClr val="F8FAFC"/>
          </a:solidFill>
          <a:ln w="12700">
            <a:solidFill>
              <a:srgbClr val="DCE3EA"/>
            </a:solidFill>
          </a:ln>
        </p:spPr>
        <p:txBody>
          <a:bodyPr wrap="square" lIns="203200" tIns="203200" rIns="127000" bIns="101600" anchor="t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14324B"/>
                </a:solidFill>
              </a:rPr>
              <a:t>16.1%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6B7C8C"/>
                </a:solidFill>
              </a:rPr>
              <a:t>Historical attrition rate</a:t>
            </a:r>
          </a:p>
        </p:txBody>
      </p:sp>
      <p:sp>
        <p:nvSpPr>
          <p:cNvPr id="210" name="Shape 210"/>
          <p:cNvSpPr/>
          <p:nvPr/>
        </p:nvSpPr>
        <p:spPr>
          <a:xfrm>
            <a:off x="2552700" y="1600200"/>
            <a:ext cx="50800" cy="1320800"/>
          </a:xfrm>
          <a:prstGeom prst="rect">
            <a:avLst/>
          </a:prstGeom>
          <a:solidFill>
            <a:srgbClr val="C9772F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en-US"/>
          </a:p>
        </p:txBody>
      </p:sp>
      <p:sp>
        <p:nvSpPr>
          <p:cNvPr id="211" name="Shape 211"/>
          <p:cNvSpPr/>
          <p:nvPr/>
        </p:nvSpPr>
        <p:spPr>
          <a:xfrm>
            <a:off x="4648200" y="1600200"/>
            <a:ext cx="1943100" cy="1320800"/>
          </a:xfrm>
          <a:prstGeom prst="rect">
            <a:avLst/>
          </a:prstGeom>
          <a:solidFill>
            <a:srgbClr val="F8FAFC"/>
          </a:solidFill>
          <a:ln w="12700">
            <a:solidFill>
              <a:srgbClr val="DCE3EA"/>
            </a:solidFill>
          </a:ln>
        </p:spPr>
        <p:txBody>
          <a:bodyPr wrap="square" lIns="203200" tIns="203200" rIns="127000" bIns="101600" anchor="t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14324B"/>
                </a:solidFill>
              </a:rPr>
              <a:t>1,233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6B7C8C"/>
                </a:solidFill>
              </a:rPr>
              <a:t>Active &amp; scored for risk</a:t>
            </a:r>
          </a:p>
        </p:txBody>
      </p:sp>
      <p:sp>
        <p:nvSpPr>
          <p:cNvPr id="212" name="Shape 212"/>
          <p:cNvSpPr/>
          <p:nvPr/>
        </p:nvSpPr>
        <p:spPr>
          <a:xfrm>
            <a:off x="4648200" y="1600200"/>
            <a:ext cx="50800" cy="1320800"/>
          </a:xfrm>
          <a:prstGeom prst="rect">
            <a:avLst/>
          </a:prstGeom>
          <a:solidFill>
            <a:srgbClr val="C9772F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en-US"/>
          </a:p>
        </p:txBody>
      </p:sp>
      <p:sp>
        <p:nvSpPr>
          <p:cNvPr id="213" name="Shape 213"/>
          <p:cNvSpPr/>
          <p:nvPr/>
        </p:nvSpPr>
        <p:spPr>
          <a:xfrm>
            <a:off x="6743700" y="1600200"/>
            <a:ext cx="1943100" cy="1320800"/>
          </a:xfrm>
          <a:prstGeom prst="rect">
            <a:avLst/>
          </a:prstGeom>
          <a:solidFill>
            <a:srgbClr val="F8FAFC"/>
          </a:solidFill>
          <a:ln w="12700">
            <a:solidFill>
              <a:srgbClr val="DCE3EA"/>
            </a:solidFill>
          </a:ln>
        </p:spPr>
        <p:txBody>
          <a:bodyPr wrap="square" lIns="203200" tIns="203200" rIns="127000" bIns="101600" anchor="t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14324B"/>
                </a:solidFill>
              </a:rPr>
              <a:t>0.846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6B7C8C"/>
                </a:solidFill>
              </a:rPr>
              <a:t>Test concordance index</a:t>
            </a:r>
          </a:p>
        </p:txBody>
      </p:sp>
      <p:sp>
        <p:nvSpPr>
          <p:cNvPr id="214" name="Shape 214"/>
          <p:cNvSpPr/>
          <p:nvPr/>
        </p:nvSpPr>
        <p:spPr>
          <a:xfrm>
            <a:off x="6743700" y="1600200"/>
            <a:ext cx="50800" cy="1320800"/>
          </a:xfrm>
          <a:prstGeom prst="rect">
            <a:avLst/>
          </a:prstGeom>
          <a:solidFill>
            <a:srgbClr val="C9772F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en-US"/>
          </a:p>
        </p:txBody>
      </p:sp>
      <p:sp>
        <p:nvSpPr>
          <p:cNvPr id="215" name="Shape 215"/>
          <p:cNvSpPr/>
          <p:nvPr/>
        </p:nvSpPr>
        <p:spPr>
          <a:xfrm>
            <a:off x="457200" y="3454400"/>
            <a:ext cx="4013200" cy="241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DCE3EA"/>
            </a:solidFill>
          </a:ln>
        </p:spPr>
        <p:txBody>
          <a:bodyPr wrap="square" lIns="0" tIns="0" rIns="0" bIns="0" anchor="t">
            <a:normAutofit/>
          </a:bodyPr>
          <a:lstStyle/>
          <a:p>
            <a:endParaRPr lang="en-US"/>
          </a:p>
        </p:txBody>
      </p:sp>
      <p:sp>
        <p:nvSpPr>
          <p:cNvPr id="216" name="Shape 216"/>
          <p:cNvSpPr/>
          <p:nvPr/>
        </p:nvSpPr>
        <p:spPr>
          <a:xfrm>
            <a:off x="457200" y="3454400"/>
            <a:ext cx="50800" cy="2413000"/>
          </a:xfrm>
          <a:prstGeom prst="rect">
            <a:avLst/>
          </a:prstGeom>
          <a:solidFill>
            <a:srgbClr val="14324B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en-US"/>
          </a:p>
        </p:txBody>
      </p:sp>
      <p:sp>
        <p:nvSpPr>
          <p:cNvPr id="217" name="Shape 217"/>
          <p:cNvSpPr/>
          <p:nvPr/>
        </p:nvSpPr>
        <p:spPr>
          <a:xfrm>
            <a:off x="4673600" y="3454400"/>
            <a:ext cx="4013200" cy="241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DCE3EA"/>
            </a:solidFill>
          </a:ln>
        </p:spPr>
        <p:txBody>
          <a:bodyPr wrap="square" lIns="0" tIns="0" rIns="0" bIns="0" anchor="t">
            <a:normAutofit/>
          </a:bodyPr>
          <a:lstStyle/>
          <a:p>
            <a:endParaRPr lang="en-US"/>
          </a:p>
        </p:txBody>
      </p:sp>
      <p:sp>
        <p:nvSpPr>
          <p:cNvPr id="218" name="Shape 218"/>
          <p:cNvSpPr/>
          <p:nvPr/>
        </p:nvSpPr>
        <p:spPr>
          <a:xfrm>
            <a:off x="4673600" y="3454400"/>
            <a:ext cx="50800" cy="2413000"/>
          </a:xfrm>
          <a:prstGeom prst="rect">
            <a:avLst/>
          </a:prstGeom>
          <a:solidFill>
            <a:srgbClr val="C9772F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57200" y="584200"/>
            <a:ext cx="78740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3000" y="3708400"/>
            <a:ext cx="3505200" cy="18774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52400" indent="-152400" algn="l">
              <a:lnSpc>
                <a:spcPct val="100000"/>
              </a:lnSpc>
              <a:spcAft>
                <a:spcPts val="600"/>
              </a:spcAft>
              <a:buClr>
                <a:srgbClr val="C9772F"/>
              </a:buClr>
              <a:buFont typeface="Arial"/>
              <a:buChar char="▪"/>
            </a:pPr>
            <a:r>
              <a:rPr lang="en-US" sz="1600" dirty="0">
                <a:solidFill>
                  <a:srgbClr val="2C3945"/>
                </a:solidFill>
              </a:rPr>
              <a:t>Strongest driver: Over Time — hazard ×2.20.</a:t>
            </a:r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Clr>
                <a:srgbClr val="C9772F"/>
              </a:buClr>
              <a:buFont typeface="Arial"/>
              <a:buChar char="▪"/>
            </a:pPr>
            <a:r>
              <a:rPr lang="en-US" sz="1600" dirty="0">
                <a:solidFill>
                  <a:srgbClr val="2C3945"/>
                </a:solidFill>
              </a:rPr>
              <a:t>Top at-risk employee: ID 2021 — 25% predicted chance of leaving within a year.</a:t>
            </a:r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Clr>
                <a:srgbClr val="C9772F"/>
              </a:buClr>
              <a:buFont typeface="Arial"/>
              <a:buChar char="▪"/>
            </a:pPr>
            <a:r>
              <a:rPr lang="en-US" sz="1600" dirty="0">
                <a:solidFill>
                  <a:srgbClr val="2C3945"/>
                </a:solidFill>
              </a:rPr>
              <a:t>Top 15 at-risk employees identified for immediate action.</a:t>
            </a:r>
          </a:p>
        </p:txBody>
      </p:sp>
      <p:sp>
        <p:nvSpPr>
          <p:cNvPr id="204" name="Text 204"/>
          <p:cNvSpPr txBox="1"/>
          <p:nvPr/>
        </p:nvSpPr>
        <p:spPr>
          <a:xfrm>
            <a:off x="457200" y="279400"/>
            <a:ext cx="78740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buNone/>
            </a:pPr>
            <a:r>
              <a:rPr lang="en-US" sz="1400" b="1" spc="300" dirty="0">
                <a:solidFill>
                  <a:srgbClr val="9FB6C9"/>
                </a:solidFill>
              </a:rPr>
              <a:t>EXECUTIVE REPORT   |   SURVIVAL ANALYSIS</a:t>
            </a:r>
          </a:p>
        </p:txBody>
      </p:sp>
      <p:sp>
        <p:nvSpPr>
          <p:cNvPr id="205" name="Text 205"/>
          <p:cNvSpPr txBox="1"/>
          <p:nvPr/>
        </p:nvSpPr>
        <p:spPr>
          <a:xfrm>
            <a:off x="457200" y="6350000"/>
            <a:ext cx="60960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8A98A5"/>
                </a:solidFill>
              </a:rPr>
              <a:t>Cox Proportional Hazards Model  |  Employee Attrition Analysis</a:t>
            </a:r>
          </a:p>
        </p:txBody>
      </p:sp>
      <p:sp>
        <p:nvSpPr>
          <p:cNvPr id="206" name="Text 206"/>
          <p:cNvSpPr txBox="1"/>
          <p:nvPr/>
        </p:nvSpPr>
        <p:spPr>
          <a:xfrm>
            <a:off x="7670800" y="6350000"/>
            <a:ext cx="10160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r">
              <a:buNone/>
            </a:pPr>
            <a:r>
              <a:rPr lang="en-US" sz="1400" b="1" dirty="0">
                <a:solidFill>
                  <a:srgbClr val="14324B"/>
                </a:solidFill>
              </a:rPr>
              <a:t>01</a:t>
            </a:r>
          </a:p>
        </p:txBody>
      </p:sp>
      <p:sp>
        <p:nvSpPr>
          <p:cNvPr id="219" name="Text 219"/>
          <p:cNvSpPr txBox="1"/>
          <p:nvPr/>
        </p:nvSpPr>
        <p:spPr>
          <a:xfrm>
            <a:off x="457200" y="31496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buNone/>
            </a:pPr>
            <a:r>
              <a:rPr lang="en-US" sz="1400" b="1" spc="240" dirty="0">
                <a:solidFill>
                  <a:srgbClr val="6B7C8C"/>
                </a:solidFill>
              </a:rPr>
              <a:t>MODEL VALIDATION</a:t>
            </a:r>
          </a:p>
        </p:txBody>
      </p:sp>
      <p:sp>
        <p:nvSpPr>
          <p:cNvPr id="220" name="Text 220"/>
          <p:cNvSpPr txBox="1"/>
          <p:nvPr/>
        </p:nvSpPr>
        <p:spPr>
          <a:xfrm>
            <a:off x="4673600" y="31496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buNone/>
            </a:pPr>
            <a:r>
              <a:rPr lang="en-US" sz="1400" b="1" spc="240" dirty="0">
                <a:solidFill>
                  <a:srgbClr val="6B7C8C"/>
                </a:solidFill>
              </a:rPr>
              <a:t>HEADLINE FINDINGS</a:t>
            </a:r>
          </a:p>
        </p:txBody>
      </p:sp>
      <p:sp>
        <p:nvSpPr>
          <p:cNvPr id="221" name="Text 221"/>
          <p:cNvSpPr txBox="1"/>
          <p:nvPr/>
        </p:nvSpPr>
        <p:spPr>
          <a:xfrm>
            <a:off x="736600" y="3708400"/>
            <a:ext cx="3505200" cy="19812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152400" indent="-152400" algn="l">
              <a:lnSpc>
                <a:spcPct val="100000"/>
              </a:lnSpc>
              <a:spcAft>
                <a:spcPts val="600"/>
              </a:spcAft>
              <a:buClr>
                <a:srgbClr val="14324B"/>
              </a:buClr>
              <a:buFont typeface="Arial"/>
              <a:buChar char="▪"/>
            </a:pPr>
            <a:r>
              <a:rPr lang="en-US" sz="1600" dirty="0">
                <a:solidFill>
                  <a:srgbClr val="2C3945"/>
                </a:solidFill>
              </a:rPr>
              <a:t>Concordance 0.849 train / 0.846 test — strong ranking power.</a:t>
            </a:r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Clr>
                <a:srgbClr val="14324B"/>
              </a:buClr>
              <a:buFont typeface="Arial"/>
              <a:buChar char="▪"/>
            </a:pPr>
            <a:r>
              <a:rPr lang="en-US" sz="1600" dirty="0">
                <a:solidFill>
                  <a:srgbClr val="2C3945"/>
                </a:solidFill>
              </a:rPr>
              <a:t>Final model refit on all 1,470 employees after validation.</a:t>
            </a:r>
          </a:p>
          <a:p>
            <a:pPr marL="152400" indent="-152400" algn="l">
              <a:lnSpc>
                <a:spcPct val="100000"/>
              </a:lnSpc>
              <a:spcAft>
                <a:spcPts val="600"/>
              </a:spcAft>
              <a:buClr>
                <a:srgbClr val="14324B"/>
              </a:buClr>
              <a:buFont typeface="Arial"/>
              <a:buChar char="▪"/>
            </a:pPr>
            <a:r>
              <a:rPr lang="en-US" sz="1600" dirty="0">
                <a:solidFill>
                  <a:srgbClr val="2C3945"/>
                </a:solidFill>
              </a:rPr>
              <a:t>Proportional-hazards assumption checked per covariate (notebook STEP 05).</a:t>
            </a:r>
          </a:p>
        </p:txBody>
      </p:sp>
    </p:spTree>
    <p:extLst>
      <p:ext uri="{BB962C8B-B14F-4D97-AF65-F5344CB8AC3E}">
        <p14:creationId xmlns:p14="http://schemas.microsoft.com/office/powerpoint/2010/main" val="1568335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301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rgbClr val="14324B"/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02" name="Shape 302"/>
          <p:cNvSpPr/>
          <p:nvPr/>
        </p:nvSpPr>
        <p:spPr>
          <a:xfrm>
            <a:off x="0" y="1219200"/>
            <a:ext cx="9144000" cy="63500"/>
          </a:xfrm>
          <a:prstGeom prst="rect">
            <a:avLst/>
          </a:prstGeom>
          <a:solidFill>
            <a:srgbClr val="C9772F"/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03" name="Shape 303"/>
          <p:cNvSpPr/>
          <p:nvPr/>
        </p:nvSpPr>
        <p:spPr>
          <a:xfrm>
            <a:off x="457200" y="6248400"/>
            <a:ext cx="8229600" cy="12700"/>
          </a:xfrm>
          <a:prstGeom prst="rect">
            <a:avLst/>
          </a:prstGeom>
          <a:solidFill>
            <a:srgbClr val="DCE3EA"/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09" name="Shape 309"/>
          <p:cNvSpPr/>
          <p:nvPr/>
        </p:nvSpPr>
        <p:spPr>
          <a:xfrm>
            <a:off x="5740400" y="1752600"/>
            <a:ext cx="2946400" cy="3771900"/>
          </a:xfrm>
          <a:prstGeom prst="rect">
            <a:avLst/>
          </a:prstGeom>
          <a:solidFill>
            <a:srgbClr val="F8FAFC"/>
          </a:solidFill>
          <a:ln w="12700">
            <a:solidFill>
              <a:srgbClr val="DCE3EA"/>
            </a:solidFill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310" name="Shape 310"/>
          <p:cNvSpPr/>
          <p:nvPr/>
        </p:nvSpPr>
        <p:spPr>
          <a:xfrm>
            <a:off x="5740400" y="1752600"/>
            <a:ext cx="50800" cy="3771900"/>
          </a:xfrm>
          <a:prstGeom prst="rect">
            <a:avLst/>
          </a:prstGeom>
          <a:solidFill>
            <a:srgbClr val="14324B"/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57200" y="584200"/>
            <a:ext cx="78740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What Drives Attrition</a:t>
            </a:r>
          </a:p>
        </p:txBody>
      </p:sp>
      <p:pic>
        <p:nvPicPr>
          <p:cNvPr id="3" name="Picture 2" descr="cox_hazard_rat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2600"/>
            <a:ext cx="5029200" cy="3771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94400" y="1930400"/>
            <a:ext cx="2489200" cy="29059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324B"/>
                </a:solidFill>
              </a:rPr>
              <a:t>Over Time (Yes)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B0413E"/>
                </a:solidFill>
              </a:rPr>
              <a:t>×2.20 hazard  ·  p = 0.000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324B"/>
                </a:solidFill>
              </a:rPr>
              <a:t>Num Companies Worked</a:t>
            </a:r>
          </a:p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B0413E"/>
                </a:solidFill>
              </a:rPr>
              <a:t>×1.09 hazard  ·  p = 0.000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324B"/>
                </a:solidFill>
              </a:rPr>
              <a:t>Monthly Income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6B7C8C"/>
                </a:solidFill>
              </a:rPr>
              <a:t>×1.00 hazard  ·  p = 0.000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324B"/>
                </a:solidFill>
              </a:rPr>
              <a:t>Years Since Last Promotion</a:t>
            </a:r>
          </a:p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2E7D5B"/>
                </a:solidFill>
              </a:rPr>
              <a:t>×0.95 hazard  ·  p = 0.001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324B"/>
                </a:solidFill>
              </a:rPr>
              <a:t>Age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2E7D5B"/>
                </a:solidFill>
              </a:rPr>
              <a:t>×0.97 hazard  ·  p = 0.000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324B"/>
                </a:solidFill>
              </a:rPr>
              <a:t>Job Level</a:t>
            </a:r>
          </a:p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400" dirty="0">
                <a:solidFill>
                  <a:srgbClr val="2E7D5B"/>
                </a:solidFill>
              </a:rPr>
              <a:t>×0.75 hazard  ·  p = 0.000</a:t>
            </a:r>
          </a:p>
        </p:txBody>
      </p:sp>
      <p:sp>
        <p:nvSpPr>
          <p:cNvPr id="304" name="Text 304"/>
          <p:cNvSpPr txBox="1"/>
          <p:nvPr/>
        </p:nvSpPr>
        <p:spPr>
          <a:xfrm>
            <a:off x="457200" y="279400"/>
            <a:ext cx="78740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buNone/>
            </a:pPr>
            <a:r>
              <a:rPr lang="en-US" sz="1400" b="1" spc="300" dirty="0">
                <a:solidFill>
                  <a:srgbClr val="9FB6C9"/>
                </a:solidFill>
              </a:rPr>
              <a:t>EXECUTIVE REPORT   |   SURVIVAL ANALYSIS</a:t>
            </a:r>
          </a:p>
        </p:txBody>
      </p:sp>
      <p:sp>
        <p:nvSpPr>
          <p:cNvPr id="305" name="Text 305"/>
          <p:cNvSpPr txBox="1"/>
          <p:nvPr/>
        </p:nvSpPr>
        <p:spPr>
          <a:xfrm>
            <a:off x="457200" y="6350000"/>
            <a:ext cx="60960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8A98A5"/>
                </a:solidFill>
              </a:rPr>
              <a:t>Cox Proportional Hazards Model  |  Employee Attrition Analysis</a:t>
            </a:r>
          </a:p>
        </p:txBody>
      </p:sp>
      <p:sp>
        <p:nvSpPr>
          <p:cNvPr id="306" name="Text 306"/>
          <p:cNvSpPr txBox="1"/>
          <p:nvPr/>
        </p:nvSpPr>
        <p:spPr>
          <a:xfrm>
            <a:off x="7670800" y="6350000"/>
            <a:ext cx="10160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r">
              <a:buNone/>
            </a:pPr>
            <a:r>
              <a:rPr lang="en-US" sz="1400" b="1" dirty="0">
                <a:solidFill>
                  <a:srgbClr val="14324B"/>
                </a:solidFill>
              </a:rPr>
              <a:t>02</a:t>
            </a:r>
          </a:p>
        </p:txBody>
      </p:sp>
      <p:sp>
        <p:nvSpPr>
          <p:cNvPr id="307" name="Text 307"/>
          <p:cNvSpPr txBox="1"/>
          <p:nvPr/>
        </p:nvSpPr>
        <p:spPr>
          <a:xfrm>
            <a:off x="457200" y="14478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buNone/>
            </a:pPr>
            <a:r>
              <a:rPr lang="en-US" sz="1400" b="1" spc="240" dirty="0">
                <a:solidFill>
                  <a:srgbClr val="6B7C8C"/>
                </a:solidFill>
              </a:rPr>
              <a:t>COEFFICIENT PLOT</a:t>
            </a:r>
          </a:p>
        </p:txBody>
      </p:sp>
      <p:sp>
        <p:nvSpPr>
          <p:cNvPr id="308" name="Text 308"/>
          <p:cNvSpPr txBox="1"/>
          <p:nvPr/>
        </p:nvSpPr>
        <p:spPr>
          <a:xfrm>
            <a:off x="5740400" y="14478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buNone/>
            </a:pPr>
            <a:r>
              <a:rPr lang="en-US" sz="1400" b="1" spc="240" dirty="0">
                <a:solidFill>
                  <a:srgbClr val="6B7C8C"/>
                </a:solidFill>
              </a:rPr>
              <a:t>HAZARD RATIOS</a:t>
            </a:r>
          </a:p>
        </p:txBody>
      </p:sp>
      <p:sp>
        <p:nvSpPr>
          <p:cNvPr id="311" name="Text 311"/>
          <p:cNvSpPr txBox="1"/>
          <p:nvPr/>
        </p:nvSpPr>
        <p:spPr>
          <a:xfrm>
            <a:off x="457200" y="5638800"/>
            <a:ext cx="5029200" cy="50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8A98A5"/>
                </a:solidFill>
              </a:rPr>
              <a:t>Hazard ratio above 1.0 raises resignation risk; below 1.0 lowers it. All drivers significant at p &lt; 0.01.</a:t>
            </a:r>
          </a:p>
        </p:txBody>
      </p:sp>
    </p:spTree>
    <p:extLst>
      <p:ext uri="{BB962C8B-B14F-4D97-AF65-F5344CB8AC3E}">
        <p14:creationId xmlns:p14="http://schemas.microsoft.com/office/powerpoint/2010/main" val="3097959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Shape 401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rgbClr val="14324B"/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402" name="Shape 402"/>
          <p:cNvSpPr/>
          <p:nvPr/>
        </p:nvSpPr>
        <p:spPr>
          <a:xfrm>
            <a:off x="0" y="1219200"/>
            <a:ext cx="9144000" cy="63500"/>
          </a:xfrm>
          <a:prstGeom prst="rect">
            <a:avLst/>
          </a:prstGeom>
          <a:solidFill>
            <a:srgbClr val="C9772F"/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403" name="Shape 403"/>
          <p:cNvSpPr/>
          <p:nvPr/>
        </p:nvSpPr>
        <p:spPr>
          <a:xfrm>
            <a:off x="457200" y="6248400"/>
            <a:ext cx="8229600" cy="12700"/>
          </a:xfrm>
          <a:prstGeom prst="rect">
            <a:avLst/>
          </a:prstGeom>
          <a:solidFill>
            <a:srgbClr val="DCE3EA"/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409" name="Shape 409"/>
          <p:cNvSpPr/>
          <p:nvPr/>
        </p:nvSpPr>
        <p:spPr>
          <a:xfrm>
            <a:off x="5740400" y="1752600"/>
            <a:ext cx="2946400" cy="1676400"/>
          </a:xfrm>
          <a:prstGeom prst="rect">
            <a:avLst/>
          </a:prstGeom>
          <a:solidFill>
            <a:srgbClr val="F8FAFC"/>
          </a:solidFill>
          <a:ln w="12700">
            <a:solidFill>
              <a:srgbClr val="DCE3EA"/>
            </a:solidFill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410" name="Shape 410"/>
          <p:cNvSpPr/>
          <p:nvPr/>
        </p:nvSpPr>
        <p:spPr>
          <a:xfrm>
            <a:off x="5740400" y="1752600"/>
            <a:ext cx="50800" cy="1676400"/>
          </a:xfrm>
          <a:prstGeom prst="rect">
            <a:avLst/>
          </a:prstGeom>
          <a:solidFill>
            <a:srgbClr val="14324B"/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412" name="Shape 412"/>
          <p:cNvSpPr/>
          <p:nvPr/>
        </p:nvSpPr>
        <p:spPr>
          <a:xfrm>
            <a:off x="5740400" y="3632200"/>
            <a:ext cx="2946400" cy="18923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413" name="Shape 413"/>
          <p:cNvSpPr/>
          <p:nvPr/>
        </p:nvSpPr>
        <p:spPr>
          <a:xfrm>
            <a:off x="5740400" y="3632200"/>
            <a:ext cx="50800" cy="1892300"/>
          </a:xfrm>
          <a:prstGeom prst="rect">
            <a:avLst/>
          </a:prstGeom>
          <a:solidFill>
            <a:srgbClr val="C9772F"/>
          </a:solidFill>
          <a:ln>
            <a:noFill/>
          </a:ln>
        </p:spPr>
        <p:txBody>
          <a:bodyPr wrap="square" lIns="0" tIns="0" rIns="0" bIns="0"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57200" y="584200"/>
            <a:ext cx="78740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Retention by Overtime Status</a:t>
            </a:r>
          </a:p>
        </p:txBody>
      </p:sp>
      <p:pic>
        <p:nvPicPr>
          <p:cNvPr id="3" name="Picture 2" descr="km_over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52600"/>
            <a:ext cx="5029200" cy="3771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94400" y="4114800"/>
            <a:ext cx="248920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3"/>
                </a:solidFill>
              </a:rPr>
              <a:t>Overtime is the single most directly actionable factor found in the model.</a:t>
            </a:r>
          </a:p>
        </p:txBody>
      </p:sp>
      <p:sp>
        <p:nvSpPr>
          <p:cNvPr id="404" name="Text 404"/>
          <p:cNvSpPr txBox="1"/>
          <p:nvPr/>
        </p:nvSpPr>
        <p:spPr>
          <a:xfrm>
            <a:off x="457200" y="279400"/>
            <a:ext cx="78740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buNone/>
            </a:pPr>
            <a:r>
              <a:rPr lang="en-US" sz="1400" b="1" spc="300" dirty="0">
                <a:solidFill>
                  <a:srgbClr val="9FB6C9"/>
                </a:solidFill>
              </a:rPr>
              <a:t>EXECUTIVE REPORT   |   SURVIVAL ANALYSIS</a:t>
            </a:r>
          </a:p>
        </p:txBody>
      </p:sp>
      <p:sp>
        <p:nvSpPr>
          <p:cNvPr id="405" name="Text 405"/>
          <p:cNvSpPr txBox="1"/>
          <p:nvPr/>
        </p:nvSpPr>
        <p:spPr>
          <a:xfrm>
            <a:off x="457200" y="6350000"/>
            <a:ext cx="60960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8A98A5"/>
                </a:solidFill>
              </a:rPr>
              <a:t>Cox Proportional Hazards Model  |  Employee Attrition Analysis</a:t>
            </a:r>
          </a:p>
        </p:txBody>
      </p:sp>
      <p:sp>
        <p:nvSpPr>
          <p:cNvPr id="406" name="Text 406"/>
          <p:cNvSpPr txBox="1"/>
          <p:nvPr/>
        </p:nvSpPr>
        <p:spPr>
          <a:xfrm>
            <a:off x="7670800" y="6350000"/>
            <a:ext cx="10160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r">
              <a:buNone/>
            </a:pPr>
            <a:r>
              <a:rPr lang="en-US" sz="1400" b="1" dirty="0">
                <a:solidFill>
                  <a:srgbClr val="14324B"/>
                </a:solidFill>
              </a:rPr>
              <a:t>03</a:t>
            </a:r>
          </a:p>
        </p:txBody>
      </p:sp>
      <p:sp>
        <p:nvSpPr>
          <p:cNvPr id="407" name="Text 407"/>
          <p:cNvSpPr txBox="1"/>
          <p:nvPr/>
        </p:nvSpPr>
        <p:spPr>
          <a:xfrm>
            <a:off x="457200" y="1447800"/>
            <a:ext cx="48260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buNone/>
            </a:pPr>
            <a:r>
              <a:rPr lang="en-US" sz="1400" b="1" spc="240" dirty="0">
                <a:solidFill>
                  <a:srgbClr val="6B7C8C"/>
                </a:solidFill>
              </a:rPr>
              <a:t>KAPLAN–MEIER SURVIVAL CURVES</a:t>
            </a:r>
          </a:p>
        </p:txBody>
      </p:sp>
      <p:sp>
        <p:nvSpPr>
          <p:cNvPr id="408" name="Text 408"/>
          <p:cNvSpPr txBox="1"/>
          <p:nvPr/>
        </p:nvSpPr>
        <p:spPr>
          <a:xfrm>
            <a:off x="5740400" y="14478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buNone/>
            </a:pPr>
            <a:r>
              <a:rPr lang="en-US" sz="1400" b="1" spc="240" dirty="0">
                <a:solidFill>
                  <a:srgbClr val="6B7C8C"/>
                </a:solidFill>
              </a:rPr>
              <a:t>SIGNIFICANCE TEST</a:t>
            </a:r>
          </a:p>
        </p:txBody>
      </p:sp>
      <p:sp>
        <p:nvSpPr>
          <p:cNvPr id="411" name="Text 411"/>
          <p:cNvSpPr txBox="1"/>
          <p:nvPr/>
        </p:nvSpPr>
        <p:spPr>
          <a:xfrm>
            <a:off x="5994400" y="1955800"/>
            <a:ext cx="2489200" cy="1320800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14324B"/>
                </a:solidFill>
              </a:rPr>
              <a:t>p = 1.6e-19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6B7C8C"/>
                </a:solidFill>
              </a:rPr>
              <a:t>Log-rank test — the retention gap between overtime and non-overtime staff is statistically significant.</a:t>
            </a:r>
          </a:p>
        </p:txBody>
      </p:sp>
      <p:sp>
        <p:nvSpPr>
          <p:cNvPr id="414" name="Text 414"/>
          <p:cNvSpPr txBox="1"/>
          <p:nvPr/>
        </p:nvSpPr>
        <p:spPr>
          <a:xfrm>
            <a:off x="5994400" y="3810000"/>
            <a:ext cx="24892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buNone/>
            </a:pPr>
            <a:r>
              <a:rPr lang="en-US" sz="1400" b="1" spc="200" dirty="0">
                <a:solidFill>
                  <a:srgbClr val="C9772F"/>
                </a:solidFill>
              </a:rPr>
              <a:t>SO WHAT</a:t>
            </a:r>
          </a:p>
        </p:txBody>
      </p:sp>
      <p:sp>
        <p:nvSpPr>
          <p:cNvPr id="415" name="Text 415"/>
          <p:cNvSpPr txBox="1"/>
          <p:nvPr/>
        </p:nvSpPr>
        <p:spPr>
          <a:xfrm>
            <a:off x="457200" y="5638800"/>
            <a:ext cx="5029200" cy="508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8A98A5"/>
                </a:solidFill>
              </a:rPr>
              <a:t>Curves show the share of employees still retained over tenure, split by overtime status.</a:t>
            </a:r>
          </a:p>
        </p:txBody>
      </p:sp>
    </p:spTree>
    <p:extLst>
      <p:ext uri="{BB962C8B-B14F-4D97-AF65-F5344CB8AC3E}">
        <p14:creationId xmlns:p14="http://schemas.microsoft.com/office/powerpoint/2010/main" val="2411773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rgbClr val="14324B"/>
          </a:solidFill>
          <a:ln>
            <a:noFill/>
          </a:ln>
        </p:spPr>
        <p:txBody>
          <a:bodyPr wrap="square" lIns="0" tIns="0" rIns="0" bIns="0">
            <a:normAutofit/>
          </a:bodyPr>
          <a:lstStyle/>
          <a:p>
            <a:endParaRPr lang="en-US"/>
          </a:p>
        </p:txBody>
      </p:sp>
      <p:sp>
        <p:nvSpPr>
          <p:cNvPr id="502" name="Shape 502"/>
          <p:cNvSpPr/>
          <p:nvPr/>
        </p:nvSpPr>
        <p:spPr>
          <a:xfrm>
            <a:off x="0" y="1219200"/>
            <a:ext cx="9144000" cy="63500"/>
          </a:xfrm>
          <a:prstGeom prst="rect">
            <a:avLst/>
          </a:prstGeom>
          <a:solidFill>
            <a:srgbClr val="C9772F"/>
          </a:solidFill>
          <a:ln>
            <a:noFill/>
          </a:ln>
        </p:spPr>
        <p:txBody>
          <a:bodyPr wrap="square" lIns="0" tIns="0" rIns="0" bIns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503" name="Shape 503"/>
          <p:cNvSpPr/>
          <p:nvPr/>
        </p:nvSpPr>
        <p:spPr>
          <a:xfrm>
            <a:off x="457200" y="6248400"/>
            <a:ext cx="8229600" cy="12700"/>
          </a:xfrm>
          <a:prstGeom prst="rect">
            <a:avLst/>
          </a:prstGeom>
          <a:solidFill>
            <a:srgbClr val="DCE3EA"/>
          </a:solidFill>
          <a:ln>
            <a:noFill/>
          </a:ln>
        </p:spPr>
        <p:txBody>
          <a:bodyPr wrap="square" lIns="0" tIns="0" rIns="0" bIns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508" name="Shape 508"/>
          <p:cNvSpPr/>
          <p:nvPr/>
        </p:nvSpPr>
        <p:spPr>
          <a:xfrm>
            <a:off x="457200" y="4622800"/>
            <a:ext cx="2641600" cy="12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DCE3EA"/>
            </a:solidFill>
          </a:ln>
        </p:spPr>
        <p:txBody>
          <a:bodyPr wrap="square" lIns="228600" tIns="177800" rIns="152400" bIns="101600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14324B"/>
                </a:solidFill>
              </a:rPr>
              <a:t>1,233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6B7C8C"/>
                </a:solidFill>
              </a:rPr>
              <a:t>Current employees scored</a:t>
            </a:r>
          </a:p>
        </p:txBody>
      </p:sp>
      <p:sp>
        <p:nvSpPr>
          <p:cNvPr id="509" name="Shape 509"/>
          <p:cNvSpPr/>
          <p:nvPr/>
        </p:nvSpPr>
        <p:spPr>
          <a:xfrm>
            <a:off x="457200" y="4622800"/>
            <a:ext cx="50800" cy="1270000"/>
          </a:xfrm>
          <a:prstGeom prst="rect">
            <a:avLst/>
          </a:prstGeom>
          <a:solidFill>
            <a:srgbClr val="14324B"/>
          </a:solidFill>
          <a:ln>
            <a:noFill/>
          </a:ln>
        </p:spPr>
        <p:txBody>
          <a:bodyPr wrap="square" lIns="0" tIns="0" rIns="0" bIns="0">
            <a:normAutofit/>
          </a:bodyPr>
          <a:lstStyle/>
          <a:p>
            <a:endParaRPr lang="en-US"/>
          </a:p>
        </p:txBody>
      </p:sp>
      <p:sp>
        <p:nvSpPr>
          <p:cNvPr id="510" name="Shape 510"/>
          <p:cNvSpPr/>
          <p:nvPr/>
        </p:nvSpPr>
        <p:spPr>
          <a:xfrm>
            <a:off x="3251200" y="4622800"/>
            <a:ext cx="2641600" cy="127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DCE3EA"/>
            </a:solidFill>
          </a:ln>
        </p:spPr>
        <p:txBody>
          <a:bodyPr wrap="square" lIns="228600" tIns="177800" rIns="152400" bIns="101600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sz="3200" b="1" dirty="0">
                <a:solidFill>
                  <a:srgbClr val="B0413E"/>
                </a:solidFill>
              </a:rPr>
              <a:t>8.19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6B7C8C"/>
                </a:solidFill>
              </a:rPr>
              <a:t>Highest risk score vs. median 0.98</a:t>
            </a:r>
          </a:p>
        </p:txBody>
      </p:sp>
      <p:sp>
        <p:nvSpPr>
          <p:cNvPr id="511" name="Shape 511"/>
          <p:cNvSpPr/>
          <p:nvPr/>
        </p:nvSpPr>
        <p:spPr>
          <a:xfrm>
            <a:off x="3251200" y="4622800"/>
            <a:ext cx="50800" cy="1270000"/>
          </a:xfrm>
          <a:prstGeom prst="rect">
            <a:avLst/>
          </a:prstGeom>
          <a:solidFill>
            <a:srgbClr val="B0413E"/>
          </a:solidFill>
          <a:ln>
            <a:noFill/>
          </a:ln>
        </p:spPr>
        <p:txBody>
          <a:bodyPr wrap="square" lIns="0" tIns="0" rIns="0" bIns="0">
            <a:normAutofit/>
          </a:bodyPr>
          <a:lstStyle/>
          <a:p>
            <a:endParaRPr lang="en-US"/>
          </a:p>
        </p:txBody>
      </p:sp>
      <p:sp>
        <p:nvSpPr>
          <p:cNvPr id="512" name="Shape 512"/>
          <p:cNvSpPr/>
          <p:nvPr/>
        </p:nvSpPr>
        <p:spPr>
          <a:xfrm>
            <a:off x="6045200" y="4622800"/>
            <a:ext cx="2641600" cy="127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0" tIns="0" rIns="0" bIns="0">
            <a:normAutofit/>
          </a:bodyPr>
          <a:lstStyle/>
          <a:p>
            <a:endParaRPr lang="en-US"/>
          </a:p>
        </p:txBody>
      </p:sp>
      <p:sp>
        <p:nvSpPr>
          <p:cNvPr id="513" name="Shape 513"/>
          <p:cNvSpPr/>
          <p:nvPr/>
        </p:nvSpPr>
        <p:spPr>
          <a:xfrm>
            <a:off x="6045200" y="4622800"/>
            <a:ext cx="50800" cy="1270000"/>
          </a:xfrm>
          <a:prstGeom prst="rect">
            <a:avLst/>
          </a:prstGeom>
          <a:solidFill>
            <a:srgbClr val="C9772F"/>
          </a:solidFill>
          <a:ln>
            <a:noFill/>
          </a:ln>
        </p:spPr>
        <p:txBody>
          <a:bodyPr wrap="square" lIns="0" tIns="0" rIns="0" bIns="0">
            <a:normAutofit/>
          </a:bodyPr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57200" y="584200"/>
            <a:ext cx="78740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Who Is at Risk Right Now</a:t>
            </a:r>
          </a:p>
        </p:txBody>
      </p:sp>
      <p:pic>
        <p:nvPicPr>
          <p:cNvPr id="3" name="Picture 2" descr="risk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752600"/>
            <a:ext cx="7874000" cy="280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99200" y="5080000"/>
            <a:ext cx="2235200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933"/>
                </a:solidFill>
              </a:rPr>
              <a:t>Open retention conversations with the 15 employees listed above.</a:t>
            </a:r>
          </a:p>
        </p:txBody>
      </p:sp>
      <p:sp>
        <p:nvSpPr>
          <p:cNvPr id="504" name="Text 504"/>
          <p:cNvSpPr txBox="1"/>
          <p:nvPr/>
        </p:nvSpPr>
        <p:spPr>
          <a:xfrm>
            <a:off x="457200" y="279400"/>
            <a:ext cx="78740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buNone/>
            </a:pPr>
            <a:r>
              <a:rPr lang="en-US" sz="1400" b="1" spc="300" dirty="0">
                <a:solidFill>
                  <a:srgbClr val="9FB6C9"/>
                </a:solidFill>
              </a:rPr>
              <a:t>EXECUTIVE REPORT   |   SURVIVAL ANALYSIS</a:t>
            </a:r>
          </a:p>
        </p:txBody>
      </p:sp>
      <p:sp>
        <p:nvSpPr>
          <p:cNvPr id="505" name="Text 505"/>
          <p:cNvSpPr txBox="1"/>
          <p:nvPr/>
        </p:nvSpPr>
        <p:spPr>
          <a:xfrm>
            <a:off x="457200" y="6350000"/>
            <a:ext cx="60960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8A98A5"/>
                </a:solidFill>
              </a:rPr>
              <a:t>Cox Proportional Hazards Model  |  Employee Attrition Analysis</a:t>
            </a:r>
          </a:p>
        </p:txBody>
      </p:sp>
      <p:sp>
        <p:nvSpPr>
          <p:cNvPr id="506" name="Text 506"/>
          <p:cNvSpPr txBox="1"/>
          <p:nvPr/>
        </p:nvSpPr>
        <p:spPr>
          <a:xfrm>
            <a:off x="7670800" y="6350000"/>
            <a:ext cx="10160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r">
              <a:buNone/>
            </a:pPr>
            <a:r>
              <a:rPr lang="en-US" sz="1400" b="1" dirty="0">
                <a:solidFill>
                  <a:srgbClr val="14324B"/>
                </a:solidFill>
              </a:rPr>
              <a:t>04</a:t>
            </a:r>
          </a:p>
        </p:txBody>
      </p:sp>
      <p:sp>
        <p:nvSpPr>
          <p:cNvPr id="507" name="Text 507"/>
          <p:cNvSpPr txBox="1"/>
          <p:nvPr/>
        </p:nvSpPr>
        <p:spPr>
          <a:xfrm>
            <a:off x="457200" y="1447800"/>
            <a:ext cx="6096000" cy="2540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buNone/>
            </a:pPr>
            <a:r>
              <a:rPr lang="en-US" sz="1400" b="1" spc="240" dirty="0">
                <a:solidFill>
                  <a:srgbClr val="6B7C8C"/>
                </a:solidFill>
              </a:rPr>
              <a:t>TOP 15 EMPLOYEES BY 1-YEAR LEAVE PROBABILITY</a:t>
            </a:r>
          </a:p>
        </p:txBody>
      </p:sp>
      <p:sp>
        <p:nvSpPr>
          <p:cNvPr id="514" name="Text 514"/>
          <p:cNvSpPr txBox="1"/>
          <p:nvPr/>
        </p:nvSpPr>
        <p:spPr>
          <a:xfrm>
            <a:off x="6299200" y="4800600"/>
            <a:ext cx="2235200" cy="2286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buNone/>
            </a:pPr>
            <a:r>
              <a:rPr lang="en-US" sz="1400" b="1" spc="200" dirty="0">
                <a:solidFill>
                  <a:srgbClr val="C9772F"/>
                </a:solidFill>
              </a:rPr>
              <a:t>NEXT STEP</a:t>
            </a:r>
          </a:p>
        </p:txBody>
      </p:sp>
    </p:spTree>
    <p:extLst>
      <p:ext uri="{BB962C8B-B14F-4D97-AF65-F5344CB8AC3E}">
        <p14:creationId xmlns:p14="http://schemas.microsoft.com/office/powerpoint/2010/main" val="4143077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rgbClr val="14324B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en-US"/>
          </a:p>
        </p:txBody>
      </p:sp>
      <p:sp>
        <p:nvSpPr>
          <p:cNvPr id="102" name="Shape 102"/>
          <p:cNvSpPr/>
          <p:nvPr/>
        </p:nvSpPr>
        <p:spPr>
          <a:xfrm>
            <a:off x="0" y="1219200"/>
            <a:ext cx="9144000" cy="63500"/>
          </a:xfrm>
          <a:prstGeom prst="rect">
            <a:avLst/>
          </a:prstGeom>
          <a:solidFill>
            <a:srgbClr val="C9772F"/>
          </a:solidFill>
          <a:ln>
            <a:noFill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03" name="Shape 103"/>
          <p:cNvSpPr/>
          <p:nvPr/>
        </p:nvSpPr>
        <p:spPr>
          <a:xfrm>
            <a:off x="457200" y="1549400"/>
            <a:ext cx="8229600" cy="939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en-US"/>
          </a:p>
        </p:txBody>
      </p:sp>
      <p:sp>
        <p:nvSpPr>
          <p:cNvPr id="104" name="Shape 104"/>
          <p:cNvSpPr/>
          <p:nvPr/>
        </p:nvSpPr>
        <p:spPr>
          <a:xfrm>
            <a:off x="457200" y="1549400"/>
            <a:ext cx="76200" cy="939800"/>
          </a:xfrm>
          <a:prstGeom prst="rect">
            <a:avLst/>
          </a:prstGeom>
          <a:solidFill>
            <a:srgbClr val="C9772F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en-US"/>
          </a:p>
        </p:txBody>
      </p:sp>
      <p:sp>
        <p:nvSpPr>
          <p:cNvPr id="105" name="Shape 105"/>
          <p:cNvSpPr/>
          <p:nvPr/>
        </p:nvSpPr>
        <p:spPr>
          <a:xfrm>
            <a:off x="457200" y="3098800"/>
            <a:ext cx="40132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DCE3EA"/>
            </a:solidFill>
          </a:ln>
        </p:spPr>
        <p:txBody>
          <a:bodyPr wrap="square" lIns="254000" tIns="177800" rIns="203200" bIns="127000" anchor="t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0413E"/>
                </a:solidFill>
                <a:latin typeface="+mn-lt"/>
              </a:rPr>
              <a:t>RISK</a:t>
            </a:r>
          </a:p>
          <a:p>
            <a:pPr algn="l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4324B"/>
                </a:solidFill>
              </a:rPr>
              <a:t>Over Time (Yes)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44515E"/>
                </a:solidFill>
              </a:rPr>
              <a:t>Raises hazard by 120% — the single largest driver of attrition.</a:t>
            </a:r>
          </a:p>
        </p:txBody>
      </p:sp>
      <p:sp>
        <p:nvSpPr>
          <p:cNvPr id="106" name="Shape 106"/>
          <p:cNvSpPr/>
          <p:nvPr/>
        </p:nvSpPr>
        <p:spPr>
          <a:xfrm>
            <a:off x="457200" y="3098800"/>
            <a:ext cx="50800" cy="1371600"/>
          </a:xfrm>
          <a:prstGeom prst="rect">
            <a:avLst/>
          </a:prstGeom>
          <a:solidFill>
            <a:srgbClr val="B0413E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en-US"/>
          </a:p>
        </p:txBody>
      </p:sp>
      <p:sp>
        <p:nvSpPr>
          <p:cNvPr id="107" name="Shape 107"/>
          <p:cNvSpPr/>
          <p:nvPr/>
        </p:nvSpPr>
        <p:spPr>
          <a:xfrm>
            <a:off x="4673600" y="3098800"/>
            <a:ext cx="40132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DCE3EA"/>
            </a:solidFill>
          </a:ln>
        </p:spPr>
        <p:txBody>
          <a:bodyPr wrap="square" lIns="254000" tIns="177800" rIns="203200" bIns="127000" anchor="t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0413E"/>
                </a:solidFill>
                <a:latin typeface="+mn-lt"/>
              </a:rPr>
              <a:t>RISK</a:t>
            </a:r>
          </a:p>
          <a:p>
            <a:pPr algn="l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4324B"/>
                </a:solidFill>
              </a:rPr>
              <a:t>Num Companies Worked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44515E"/>
                </a:solidFill>
              </a:rPr>
              <a:t>Raises hazard by 9% for each prior employer.</a:t>
            </a:r>
          </a:p>
        </p:txBody>
      </p:sp>
      <p:sp>
        <p:nvSpPr>
          <p:cNvPr id="108" name="Shape 108"/>
          <p:cNvSpPr/>
          <p:nvPr/>
        </p:nvSpPr>
        <p:spPr>
          <a:xfrm>
            <a:off x="4673600" y="3098800"/>
            <a:ext cx="50800" cy="1371600"/>
          </a:xfrm>
          <a:prstGeom prst="rect">
            <a:avLst/>
          </a:prstGeom>
          <a:solidFill>
            <a:srgbClr val="B0413E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en-US"/>
          </a:p>
        </p:txBody>
      </p:sp>
      <p:sp>
        <p:nvSpPr>
          <p:cNvPr id="109" name="Shape 109"/>
          <p:cNvSpPr/>
          <p:nvPr/>
        </p:nvSpPr>
        <p:spPr>
          <a:xfrm>
            <a:off x="457200" y="4648200"/>
            <a:ext cx="40132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DCE3EA"/>
            </a:solidFill>
          </a:ln>
        </p:spPr>
        <p:txBody>
          <a:bodyPr wrap="square" lIns="254000" tIns="177800" rIns="203200" bIns="127000" anchor="t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5B"/>
                </a:solidFill>
                <a:latin typeface="+mn-lt"/>
              </a:rPr>
              <a:t>PROTECTIVE</a:t>
            </a:r>
          </a:p>
          <a:p>
            <a:pPr algn="l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4324B"/>
                </a:solidFill>
              </a:rPr>
              <a:t>Job Level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44515E"/>
                </a:solidFill>
              </a:rPr>
              <a:t>Lowers hazard by 25% per level of seniority.</a:t>
            </a:r>
          </a:p>
        </p:txBody>
      </p:sp>
      <p:sp>
        <p:nvSpPr>
          <p:cNvPr id="110" name="Shape 110"/>
          <p:cNvSpPr/>
          <p:nvPr/>
        </p:nvSpPr>
        <p:spPr>
          <a:xfrm>
            <a:off x="457200" y="4648200"/>
            <a:ext cx="50800" cy="137160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en-US"/>
          </a:p>
        </p:txBody>
      </p:sp>
      <p:sp>
        <p:nvSpPr>
          <p:cNvPr id="111" name="Shape 111"/>
          <p:cNvSpPr/>
          <p:nvPr/>
        </p:nvSpPr>
        <p:spPr>
          <a:xfrm>
            <a:off x="4673600" y="4648200"/>
            <a:ext cx="40132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DCE3EA"/>
            </a:solidFill>
          </a:ln>
        </p:spPr>
        <p:txBody>
          <a:bodyPr wrap="square" lIns="254000" tIns="177800" rIns="203200" bIns="127000" anchor="t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5B"/>
                </a:solidFill>
                <a:latin typeface="+mn-lt"/>
              </a:rPr>
              <a:t>PROTECTIVE</a:t>
            </a:r>
          </a:p>
          <a:p>
            <a:pPr algn="l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4324B"/>
                </a:solidFill>
              </a:rPr>
              <a:t>Age</a:t>
            </a:r>
          </a:p>
          <a:p>
            <a:pPr algn="l">
              <a:lnSpc>
                <a:spcPct val="105000"/>
              </a:lnSpc>
              <a:buNone/>
            </a:pPr>
            <a:r>
              <a:rPr lang="en-US" sz="1400" dirty="0">
                <a:solidFill>
                  <a:srgbClr val="44515E"/>
                </a:solidFill>
              </a:rPr>
              <a:t>Lowers hazard by 3% per additional year.</a:t>
            </a:r>
          </a:p>
        </p:txBody>
      </p:sp>
      <p:sp>
        <p:nvSpPr>
          <p:cNvPr id="112" name="Shape 112"/>
          <p:cNvSpPr/>
          <p:nvPr/>
        </p:nvSpPr>
        <p:spPr>
          <a:xfrm>
            <a:off x="4673600" y="4648200"/>
            <a:ext cx="50800" cy="137160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 lang="en-US"/>
          </a:p>
        </p:txBody>
      </p:sp>
      <p:sp>
        <p:nvSpPr>
          <p:cNvPr id="115" name="Shape 115"/>
          <p:cNvSpPr/>
          <p:nvPr/>
        </p:nvSpPr>
        <p:spPr>
          <a:xfrm>
            <a:off x="457200" y="6248400"/>
            <a:ext cx="8229600" cy="12700"/>
          </a:xfrm>
          <a:prstGeom prst="rect">
            <a:avLst/>
          </a:prstGeom>
          <a:solidFill>
            <a:srgbClr val="DCE3EA"/>
          </a:solidFill>
          <a:ln>
            <a:noFill/>
          </a:ln>
        </p:spPr>
        <p:txBody>
          <a:bodyPr wrap="square" lIns="0" tIns="0" rIns="0" bIns="0" anchor="t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57200" y="584200"/>
            <a:ext cx="78740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01800"/>
            <a:ext cx="7670800" cy="4873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n-US" sz="1400" b="1" spc="200" dirty="0">
                <a:solidFill>
                  <a:srgbClr val="C9772F"/>
                </a:solidFill>
              </a:rPr>
              <a:t>PRIORITY ACTION</a:t>
            </a:r>
          </a:p>
          <a:p>
            <a:pPr algn="l">
              <a:buNone/>
            </a:pPr>
            <a:r>
              <a:rPr lang="en-US" sz="1600" dirty="0">
                <a:solidFill>
                  <a:srgbClr val="1F2933"/>
                </a:solidFill>
              </a:rPr>
              <a:t>Prioritize retention conversations with the top 15 employees flagged above.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457200" y="279400"/>
            <a:ext cx="787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400" b="1" spc="300" dirty="0">
                <a:solidFill>
                  <a:srgbClr val="9FB6C9"/>
                </a:solidFill>
              </a:rPr>
              <a:t>EXECUTIVE REPORT   |   SURVIVAL ANALYSIS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457200" y="2717800"/>
            <a:ext cx="7874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400" b="1" spc="240" dirty="0">
                <a:solidFill>
                  <a:srgbClr val="6B7C8C"/>
                </a:solidFill>
              </a:rPr>
              <a:t>KEY HAZARD DRIVERS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457200" y="6350000"/>
            <a:ext cx="6096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8A98A5"/>
                </a:solidFill>
              </a:rPr>
              <a:t>Cox Proportional Hazards Model  |  Employee Attrition Analysis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7670800" y="6350000"/>
            <a:ext cx="1016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buNone/>
            </a:pPr>
            <a:r>
              <a:rPr lang="en-US" sz="1400" b="1" dirty="0">
                <a:solidFill>
                  <a:srgbClr val="14324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00844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4A06A5F-C839-47DF-AC3E-88B97318A129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34569eda-aa51-429d-ac65-45069a0c1f2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419</Words>
  <Application>Microsoft Office PowerPoint</Application>
  <PresentationFormat>On-screen Show (4:3)</PresentationFormat>
  <Paragraphs>80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Nick Wisely</cp:lastModifiedBy>
  <cp:revision>1</cp:revision>
  <dcterms:created xsi:type="dcterms:W3CDTF">2013-01-27T09:14:16Z</dcterms:created>
  <dcterms:modified xsi:type="dcterms:W3CDTF">2026-08-30T05:18:38Z</dcterms:modified>
  <cp:category/>
</cp:coreProperties>
</file>