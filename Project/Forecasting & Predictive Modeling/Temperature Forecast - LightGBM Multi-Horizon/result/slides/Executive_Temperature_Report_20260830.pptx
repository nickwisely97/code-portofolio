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TEMPERATURE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LightGBM Direct Multi-Horizon Forecast  |  14-Day Outlook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01/07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1938528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54864" cy="131673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673352"/>
            <a:ext cx="168249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324B"/>
                </a:solidFill>
              </a:rPr>
              <a:t>5</a:t>
            </a:r>
          </a:p>
          <a:p>
            <a:pPr algn="l"/>
            <a:r>
              <a:rPr sz="1300" b="0" i="0">
                <a:solidFill>
                  <a:srgbClr val="6B7C8C"/>
                </a:solidFill>
              </a:rPr>
              <a:t>Cities forecast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51176" y="1600200"/>
            <a:ext cx="1938528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51176" y="1600200"/>
            <a:ext cx="54864" cy="131673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1673352"/>
            <a:ext cx="168249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324B"/>
                </a:solidFill>
              </a:rPr>
              <a:t>14 days</a:t>
            </a:r>
          </a:p>
          <a:p>
            <a:pPr algn="l"/>
            <a:r>
              <a:rPr sz="1300" b="0" i="0">
                <a:solidFill>
                  <a:srgbClr val="6B7C8C"/>
                </a:solidFill>
              </a:rPr>
              <a:t>Forecast horizon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145536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14-DAY TEMPERATURE OUTLOOK BY CITY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456432"/>
            <a:ext cx="1975104" cy="457200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56432"/>
            <a:ext cx="1792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32304" y="3456432"/>
            <a:ext cx="2084831" cy="457200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32304" y="3456432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Avg Forecast Temp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17136" y="3456432"/>
            <a:ext cx="2084831" cy="457200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7136" y="3456432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Max Forecast Temp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7" y="3456432"/>
            <a:ext cx="2084831" cy="457200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1967" y="3456432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Min Forecast Temp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913631"/>
            <a:ext cx="1975104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13631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324B"/>
                </a:solidFill>
              </a:rPr>
              <a:t>Jakarta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32304" y="3913631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32304" y="3913631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28.3°C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7136" y="3913631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3913631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33.7°C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01967" y="3913631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1967" y="3913631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24.6°C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325112"/>
            <a:ext cx="1975104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325112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324B"/>
                </a:solidFill>
              </a:rPr>
              <a:t>Surabaya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2304" y="4325112"/>
            <a:ext cx="2084831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32304" y="4325112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28.4°C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17136" y="4325112"/>
            <a:ext cx="2084831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17136" y="4325112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31.4°C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01967" y="4325112"/>
            <a:ext cx="2084831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01967" y="4325112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24.6°C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736592"/>
            <a:ext cx="1975104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736592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324B"/>
                </a:solidFill>
              </a:rPr>
              <a:t>Bandung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32304" y="4736592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32304" y="4736592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23.8°C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17136" y="4736592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17136" y="4736592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29.9°C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01967" y="4736592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01967" y="4736592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18.4°C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148072"/>
            <a:ext cx="1975104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148072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324B"/>
                </a:solidFill>
              </a:rPr>
              <a:t>Medan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32304" y="5148072"/>
            <a:ext cx="2084831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32304" y="5148072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26.5°C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17136" y="5148072"/>
            <a:ext cx="2084831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17136" y="5148072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31.5°C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01967" y="5148072"/>
            <a:ext cx="2084831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01967" y="5148072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23.5°C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5559552"/>
            <a:ext cx="1975104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5559552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324B"/>
                </a:solidFill>
              </a:rPr>
              <a:t>Semarang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2304" y="5559552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32304" y="5559552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28.4°C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17136" y="5559552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17136" y="5559552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33.2°C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601967" y="5559552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01967" y="5559552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24.4°C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6135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C8C"/>
                </a:solidFill>
              </a:rPr>
              <a:t>Model performance (backtest accuracy) is on the last slide of this deck.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TEMPERATURE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Jakarta -- 14-Day Forecast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LightGBM Direct Multi-Horizon Forecast  |  14-Day Outlook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02/07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LIVE 14-DAY FORECAST FAN</a:t>
            </a:r>
          </a:p>
        </p:txBody>
      </p:sp>
      <p:pic>
        <p:nvPicPr>
          <p:cNvPr id="10" name="Picture 9" descr="forecast_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48840"/>
            <a:ext cx="8229600" cy="348691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TEMPERATURE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Surabaya -- 14-Day Forecast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LightGBM Direct Multi-Horizon Forecast  |  14-Day Outlook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03/07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LIVE 14-DAY FORECAST FAN</a:t>
            </a:r>
          </a:p>
        </p:txBody>
      </p:sp>
      <p:pic>
        <p:nvPicPr>
          <p:cNvPr id="10" name="Picture 9" descr="forecast_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48840"/>
            <a:ext cx="8229600" cy="348691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TEMPERATURE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Bandung -- 14-Day Forecast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LightGBM Direct Multi-Horizon Forecast  |  14-Day Outlook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04/07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LIVE 14-DAY FORECAST FAN</a:t>
            </a:r>
          </a:p>
        </p:txBody>
      </p:sp>
      <p:pic>
        <p:nvPicPr>
          <p:cNvPr id="10" name="Picture 9" descr="forecast_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48840"/>
            <a:ext cx="8229600" cy="348691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TEMPERATURE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Medan -- 14-Day Forecast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LightGBM Direct Multi-Horizon Forecast  |  14-Day Outlook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05/07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LIVE 14-DAY FORECAST FAN</a:t>
            </a:r>
          </a:p>
        </p:txBody>
      </p:sp>
      <p:pic>
        <p:nvPicPr>
          <p:cNvPr id="10" name="Picture 9" descr="forecast_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48840"/>
            <a:ext cx="8229600" cy="348691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TEMPERATURE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Semarang -- 14-Day Forecast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LightGBM Direct Multi-Horizon Forecast  |  14-Day Outlook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06/07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LIVE 14-DAY FORECAST FAN</a:t>
            </a:r>
          </a:p>
        </p:txBody>
      </p:sp>
      <p:pic>
        <p:nvPicPr>
          <p:cNvPr id="10" name="Picture 9" descr="forecast_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48840"/>
            <a:ext cx="8229600" cy="34869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TEMPERATURE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Model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LightGBM Direct Multi-Horizon Forecast  |  14-Day Outlook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07/07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BACKTEST ACCURACY BY CITY (WALK-FORWARD ROLLBACK TESTING)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1975104" cy="457200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1792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32304" y="1920240"/>
            <a:ext cx="2084831" cy="457200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32304" y="1920240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MAE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17136" y="1920240"/>
            <a:ext cx="2084831" cy="457200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1920240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1967" y="1920240"/>
            <a:ext cx="2084831" cy="457200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7" y="1920240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R-squared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77440"/>
            <a:ext cx="1975104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377440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324B"/>
                </a:solidFill>
              </a:rPr>
              <a:t>Jakarta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32304" y="2377440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32304" y="2377440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1.63°C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17136" y="2377440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7136" y="2377440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1.89°C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01967" y="2377440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1967" y="2377440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0.53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788920"/>
            <a:ext cx="1975104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88920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324B"/>
                </a:solidFill>
              </a:rPr>
              <a:t>Surabaya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32304" y="2788920"/>
            <a:ext cx="2084831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32304" y="2788920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0.61°C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17136" y="2788920"/>
            <a:ext cx="2084831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7136" y="2788920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0.80°C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01967" y="2788920"/>
            <a:ext cx="2084831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01967" y="2788920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0.79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200400"/>
            <a:ext cx="1975104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3200400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324B"/>
                </a:solidFill>
              </a:rPr>
              <a:t>Bandung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2304" y="3200400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32304" y="3200400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1.78°C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17136" y="3200400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17136" y="3200400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2.11°C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01967" y="3200400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01967" y="3200400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0.75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611880"/>
            <a:ext cx="1975104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3611880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324B"/>
                </a:solidFill>
              </a:rPr>
              <a:t>Medan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32304" y="3611880"/>
            <a:ext cx="2084831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32304" y="3611880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1.48°C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17136" y="3611880"/>
            <a:ext cx="2084831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17136" y="3611880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1.85°C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01967" y="3611880"/>
            <a:ext cx="2084831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01967" y="3611880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0.54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023360"/>
            <a:ext cx="1975104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4023360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324B"/>
                </a:solidFill>
              </a:rPr>
              <a:t>Semarang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32304" y="4023360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32304" y="4023360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1.02°C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17136" y="4023360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17136" y="4023360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1.28°C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601967" y="4023360"/>
            <a:ext cx="2084831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01967" y="4023360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C3945"/>
                </a:solidFill>
              </a:rPr>
              <a:t>0.82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4663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HEADLINE FINDINGS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4956048"/>
            <a:ext cx="8229600" cy="11887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7200" y="4956048"/>
            <a:ext cx="54864" cy="1188720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5800" y="512064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3945"/>
                </a:solidFill>
              </a:rPr>
              <a:t>Most accurate: Surabaya (0.61°C MAE). Least accurate: Bandung (1.78°C MAE).</a:t>
            </a:r>
          </a:p>
          <a:p>
            <a:pPr algn="l"/>
            <a:r>
              <a:rPr sz="1400" b="0" i="0">
                <a:solidFill>
                  <a:srgbClr val="2C3945"/>
                </a:solidFill>
              </a:rPr>
              <a:t>Average backtest MAE across all cities: 1.30°C, from many historical origins each forecast 14 days ahead and scored against what actually happened.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