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Who Will Resign — Key Drivers</a:t>
            </a:r>
          </a:p>
        </p:txBody>
      </p:sp>
      <p:pic>
        <p:nvPicPr>
          <p:cNvPr id="3" name="Picture 2" descr="top_10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54880" cy="2852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/>
            </a:pPr>
            <a:r>
              <a:t>Results:</a:t>
            </a:r>
          </a:p>
          <a:p>
            <a:pPr>
              <a:defRPr sz="1400"/>
            </a:pPr>
            <a:r>
              <a:t>Accuracy: 0.779</a:t>
            </a:r>
          </a:p>
          <a:p>
            <a:pPr>
              <a:defRPr sz="1400"/>
            </a:pPr>
            <a:r>
              <a:t>ROC-AUC: 0.812</a:t>
            </a:r>
          </a:p>
          <a:p>
            <a:pPr>
              <a:defRPr sz="1400"/>
            </a:pPr>
            <a:r>
              <a:t>Recall: 0.681</a:t>
            </a:r>
          </a:p>
          <a:p>
            <a:pPr>
              <a:defRPr sz="1400"/>
            </a:pPr>
            <a:r>
              <a:t>F1: 0.496</a:t>
            </a:r>
          </a:p>
          <a:p>
            <a:br/>
            <a:pPr>
              <a:defRPr b="1" sz="1800"/>
            </a:pPr>
            <a:r>
              <a:t>Key Remarks:</a:t>
            </a:r>
          </a:p>
          <a:p>
            <a:pPr>
              <a:defRPr sz="1300"/>
            </a:pPr>
            <a:r>
              <a:t>Over Time (No) is among the strongest predictors of attrition.</a:t>
            </a:r>
          </a:p>
          <a:p>
            <a:pPr>
              <a:defRPr sz="1300"/>
            </a:pPr>
            <a:r>
              <a:t>Over Time (Yes) is among the strongest predictors of attrition.</a:t>
            </a:r>
          </a:p>
          <a:p>
            <a:pPr>
              <a:defRPr sz="1300"/>
            </a:pPr>
            <a:r>
              <a:t>Job Role Laboratory Technician is among the strongest predictors of attrition.</a:t>
            </a:r>
          </a:p>
          <a:p>
            <a:pPr>
              <a:defRPr sz="1300"/>
            </a:pPr>
            <a:r>
              <a:t>Best model after tuning: Logistic Regression (81.2% ROC-AUC).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Accuracy — Validation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54880" cy="396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/>
            </a:pPr>
            <a:r>
              <a:t>Results:</a:t>
            </a:r>
          </a:p>
          <a:p>
            <a:pPr>
              <a:defRPr sz="1400"/>
            </a:pPr>
            <a:r>
              <a:t>Accuracy: 0.779</a:t>
            </a:r>
          </a:p>
          <a:p>
            <a:pPr>
              <a:defRPr sz="1400"/>
            </a:pPr>
            <a:r>
              <a:t>Precision: 0.390</a:t>
            </a:r>
          </a:p>
          <a:p>
            <a:pPr>
              <a:defRPr sz="1400"/>
            </a:pPr>
            <a:r>
              <a:t>Recall: 0.681</a:t>
            </a:r>
          </a:p>
          <a:p>
            <a:pPr>
              <a:defRPr sz="1400"/>
            </a:pPr>
            <a:r>
              <a:t>F1: 0.496</a:t>
            </a:r>
          </a:p>
          <a:p>
            <a:br/>
            <a:pPr>
              <a:defRPr b="1" sz="1800"/>
            </a:pPr>
            <a:r>
              <a:t>Key Remarks:</a:t>
            </a:r>
          </a:p>
          <a:p>
            <a:pPr>
              <a:defRPr sz="1300"/>
            </a:pPr>
            <a:r>
              <a:t>229.0 of 294 held-out employees (77.9%) were classified correctly.</a:t>
            </a:r>
          </a:p>
          <a:p>
            <a:pPr>
              <a:defRPr sz="1300"/>
            </a:pPr>
            <a:r>
              <a:t>The model catches 68.1% of employees who actually left (recall).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When Will They Resign — Survival Analysis</a:t>
            </a:r>
          </a:p>
        </p:txBody>
      </p:sp>
      <p:pic>
        <p:nvPicPr>
          <p:cNvPr id="3" name="Picture 2" descr="km_over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54880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/>
            </a:pPr>
            <a:r>
              <a:t>Results:</a:t>
            </a:r>
          </a:p>
          <a:p>
            <a:pPr>
              <a:defRPr sz="1400"/>
            </a:pPr>
            <a:r>
              <a:t>Train C-index: 0.849</a:t>
            </a:r>
          </a:p>
          <a:p>
            <a:pPr>
              <a:defRPr sz="1400"/>
            </a:pPr>
            <a:r>
              <a:t>Test C-index: 0.846</a:t>
            </a:r>
          </a:p>
          <a:p>
            <a:br/>
            <a:pPr>
              <a:defRPr b="1" sz="1800"/>
            </a:pPr>
            <a:r>
              <a:t>Key Remarks:</a:t>
            </a:r>
          </a:p>
          <a:p>
            <a:pPr>
              <a:defRPr sz="1300"/>
            </a:pPr>
            <a:r>
              <a:t>Over Time (Yes) raises the hazard of leaving by 101%.</a:t>
            </a:r>
          </a:p>
          <a:p>
            <a:pPr>
              <a:defRPr sz="1300"/>
            </a:pPr>
            <a:r>
              <a:t>Marital Status Single raises the hazard of leaving by 43%.</a:t>
            </a:r>
          </a:p>
          <a:p>
            <a:pPr>
              <a:defRPr sz="1300"/>
            </a:pPr>
            <a:r>
              <a:t>Num Companies Worked raises the hazard of leaving by 9%.</a:t>
            </a:r>
          </a:p>
          <a:p>
            <a:pPr>
              <a:defRPr sz="1300"/>
            </a:pPr>
            <a:r>
              <a:t>Test concordance index: 0.846 (0.5 = random, 1.0 = perfect ranking).</a:t>
            </a:r>
          </a:p>
          <a:p>
            <a:pPr>
              <a:defRPr sz="1300"/>
            </a:pPr>
            <a:r>
              <a:t>Overtime vs. no-overtime retention gap is statistically significant (log-rank p = 1.6e-19).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