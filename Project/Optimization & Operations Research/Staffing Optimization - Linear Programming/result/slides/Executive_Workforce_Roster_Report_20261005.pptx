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MONTHLY WORKFORCE ROSTER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Mixed-Integer Programming (PuLP / CBC)  |  January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01/07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324B"/>
                </a:solidFill>
              </a:rPr>
              <a:t>38</a:t>
            </a:r>
          </a:p>
          <a:p>
            <a:pPr algn="l"/>
            <a:r>
              <a:rPr sz="1300" b="0" i="0">
                <a:solidFill>
                  <a:srgbClr val="6B7C8C"/>
                </a:solidFill>
              </a:rPr>
              <a:t>Agents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1176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1176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324B"/>
                </a:solidFill>
              </a:rPr>
              <a:t>100.0%</a:t>
            </a:r>
          </a:p>
          <a:p>
            <a:pPr algn="l"/>
            <a:r>
              <a:rPr sz="1300" b="0" i="0">
                <a:solidFill>
                  <a:srgbClr val="6B7C8C"/>
                </a:solidFill>
              </a:rPr>
              <a:t>Demand hours covered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5152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45152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1456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324B"/>
                </a:solidFill>
              </a:rPr>
              <a:t>10/10</a:t>
            </a:r>
          </a:p>
          <a:p>
            <a:pPr algn="l"/>
            <a:r>
              <a:rPr sz="1300" b="0" i="0">
                <a:solidFill>
                  <a:srgbClr val="6B7C8C"/>
                </a:solidFill>
              </a:rPr>
              <a:t>Hard rules met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39128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39128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324B"/>
                </a:solidFill>
              </a:rPr>
              <a:t>Rp 199M</a:t>
            </a:r>
          </a:p>
          <a:p>
            <a:pPr algn="l"/>
            <a:r>
              <a:rPr sz="1300" b="0" i="0">
                <a:solidFill>
                  <a:srgbClr val="6B7C8C"/>
                </a:solidFill>
              </a:rPr>
              <a:t>Pay this 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45536"/>
            <a:ext cx="4014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KEY FINDING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56432"/>
            <a:ext cx="4014215" cy="241401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456432"/>
            <a:ext cx="54864" cy="2414016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361188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945"/>
                </a:solidFill>
              </a:rPr>
              <a:t>38 agents cover January's demand with 736 shifts, 203 of them with overtime.</a:t>
            </a:r>
          </a:p>
          <a:p>
            <a:pPr algn="l"/>
            <a:r>
              <a:rPr sz="1300" b="0" i="0">
                <a:solidFill>
                  <a:srgbClr val="2C3945"/>
                </a:solidFill>
              </a:rPr>
              <a:t>Only 1 of 3,379 required agent-hours is short, while every labor-law and company rule holds.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4" y="3145536"/>
            <a:ext cx="4014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WHAT DRIVES THE NUMBER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72584" y="3456432"/>
            <a:ext cx="4014215" cy="241401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72584" y="3456432"/>
            <a:ext cx="54864" cy="241401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361188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945"/>
                </a:solidFill>
              </a:rPr>
              <a:t>The weekend-off rule: nobody may work both Saturday and Sunday, so each weekend needs two separate crews. Without it, 27 agents would be enough.</a:t>
            </a:r>
          </a:p>
          <a:p>
            <a:pPr algn="l"/>
            <a:r>
              <a:rPr sz="1300" b="0" i="0">
                <a:solidFill>
                  <a:srgbClr val="2C3945"/>
                </a:solidFill>
              </a:rPr>
              <a:t>The model minimizes penalties (missing demand first); pay is reported, not optimized.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MONTHLY WORKFORCE ROSTER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Hard Rules, Re-Checked on the Final Roster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Mixed-Integer Programming (PuLP / CBC)  |  January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02/07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4279392" cy="36576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40965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36592" y="1463040"/>
            <a:ext cx="1316736" cy="36576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463040"/>
            <a:ext cx="1316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Worst case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3328" y="1463040"/>
            <a:ext cx="1316736" cy="36576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1463040"/>
            <a:ext cx="1316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Limit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70064" y="1463040"/>
            <a:ext cx="1316736" cy="36576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1463040"/>
            <a:ext cx="1316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4279392" cy="3931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4096511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Max work days in any 7 days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36592" y="1828800"/>
            <a:ext cx="1316736" cy="3931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1828800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53328" y="1828800"/>
            <a:ext cx="1316736" cy="3931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1828800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1828800"/>
            <a:ext cx="1316736" cy="3931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4" y="1828800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221992"/>
            <a:ext cx="4279392" cy="3931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221992"/>
            <a:ext cx="4096511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Longest run of work days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36592" y="2221992"/>
            <a:ext cx="1316736" cy="3931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221992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3328" y="2221992"/>
            <a:ext cx="1316736" cy="3931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53328" y="2221992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70064" y="2221992"/>
            <a:ext cx="1316736" cy="3931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70064" y="2221992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615184"/>
            <a:ext cx="4279392" cy="3931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2615184"/>
            <a:ext cx="4096511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Longest run of days off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36592" y="2615184"/>
            <a:ext cx="1316736" cy="3931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36592" y="2615184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53328" y="2615184"/>
            <a:ext cx="1316736" cy="3931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53328" y="2615184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70064" y="2615184"/>
            <a:ext cx="1316736" cy="3931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70064" y="2615184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008376"/>
            <a:ext cx="4279392" cy="3931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008376"/>
            <a:ext cx="4096511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Max overtime hours in one shift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36592" y="3008376"/>
            <a:ext cx="1316736" cy="3931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36592" y="3008376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53328" y="3008376"/>
            <a:ext cx="1316736" cy="3931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53328" y="3008376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70064" y="3008376"/>
            <a:ext cx="1316736" cy="3931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70064" y="3008376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Yes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401568"/>
            <a:ext cx="4279392" cy="3931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3401568"/>
            <a:ext cx="4096511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Max overtime hours in any 7 days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36592" y="3401568"/>
            <a:ext cx="1316736" cy="3931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36592" y="3401568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53328" y="3401568"/>
            <a:ext cx="1316736" cy="3931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53328" y="3401568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70064" y="3401568"/>
            <a:ext cx="1316736" cy="3931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70064" y="3401568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Yes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794760"/>
            <a:ext cx="4279392" cy="3931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3794760"/>
            <a:ext cx="4096511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Overtime on two consecutive days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36592" y="3794760"/>
            <a:ext cx="1316736" cy="3931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36592" y="3794760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53328" y="3794760"/>
            <a:ext cx="1316736" cy="3931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53328" y="3794760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70064" y="3794760"/>
            <a:ext cx="1316736" cy="3931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70064" y="3794760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Yes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187952"/>
            <a:ext cx="4279392" cy="3931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4187952"/>
            <a:ext cx="4096511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DO-Work-DO patterns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36592" y="4187952"/>
            <a:ext cx="1316736" cy="3931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36592" y="4187952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53328" y="4187952"/>
            <a:ext cx="1316736" cy="3931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53328" y="4187952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70064" y="4187952"/>
            <a:ext cx="1316736" cy="3931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70064" y="4187952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Yes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4581144"/>
            <a:ext cx="4279392" cy="3931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4581144"/>
            <a:ext cx="4096511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Agents working both Sat and Sun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736592" y="4581144"/>
            <a:ext cx="1316736" cy="3931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36592" y="4581144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53328" y="4581144"/>
            <a:ext cx="1316736" cy="3931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053328" y="4581144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70064" y="4581144"/>
            <a:ext cx="1316736" cy="3931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70064" y="4581144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Yes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4974336"/>
            <a:ext cx="4279392" cy="3931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80" y="4974336"/>
            <a:ext cx="4096511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Night -&gt; morning rotations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36592" y="4974336"/>
            <a:ext cx="1316736" cy="3931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36592" y="4974336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53328" y="4974336"/>
            <a:ext cx="1316736" cy="3931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053328" y="4974336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370064" y="4974336"/>
            <a:ext cx="1316736" cy="3931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370064" y="4974336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Yes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5367527"/>
            <a:ext cx="4279392" cy="3931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0080" y="5367527"/>
            <a:ext cx="4096511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Rest under 8h between shifts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36592" y="5367527"/>
            <a:ext cx="1316736" cy="3931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36592" y="5367527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53328" y="5367527"/>
            <a:ext cx="1316736" cy="3931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053328" y="5367527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370064" y="5367527"/>
            <a:ext cx="1316736" cy="3931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70064" y="5367527"/>
            <a:ext cx="13167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Yes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MONTHLY WORKFORCE ROSTER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Demand and the Three Shifts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Mixed-Integer Programming (PuLP / CBC)  |  January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03/07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AGENTS NEEDED PER HOUR, SAME EVERY DAY</a:t>
            </a:r>
          </a:p>
        </p:txBody>
      </p:sp>
      <p:pic>
        <p:nvPicPr>
          <p:cNvPr id="10" name="Picture 9" descr="hourly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5648"/>
            <a:ext cx="5394960" cy="2210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16752" y="144475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WHAT TO NOTICE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16752" y="1755648"/>
            <a:ext cx="2670048" cy="3840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16752" y="1755648"/>
            <a:ext cx="54864" cy="3840480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874519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945"/>
                </a:solidFill>
              </a:rPr>
              <a:t>Demand peaks sharply at lunch (12:00) and dinner (18:00).</a:t>
            </a:r>
          </a:p>
          <a:p>
            <a:pPr algn="l"/>
            <a:r>
              <a:rPr sz="1200" b="0" i="0">
                <a:solidFill>
                  <a:srgbClr val="2C3945"/>
                </a:solidFill>
              </a:rPr>
              <a:t>Fixed 9-hour shifts cannot follow such sharp peaks without idle hours around them.</a:t>
            </a:r>
          </a:p>
          <a:p>
            <a:pPr algn="l"/>
            <a:r>
              <a:rPr sz="1200" b="0" i="0">
                <a:solidFill>
                  <a:srgbClr val="2C3945"/>
                </a:solidFill>
              </a:rPr>
              <a:t>No base shift covers 06:00-07:00; only overtime can.</a:t>
            </a:r>
          </a:p>
          <a:p>
            <a:pPr algn="l"/>
            <a:r>
              <a:rPr sz="1200" b="0" i="0">
                <a:solidFill>
                  <a:srgbClr val="2C3945"/>
                </a:solidFill>
              </a:rPr>
              <a:t>Demand is an assumption; a forecast would replace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MONTHLY WORKFORCE ROSTER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January Roster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Mixed-Integer Programming (PuLP / CBC)  |  January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04/07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ONE ROW PER AGENT, ONE COLUMN PER DAY</a:t>
            </a:r>
          </a:p>
        </p:txBody>
      </p:sp>
      <p:pic>
        <p:nvPicPr>
          <p:cNvPr id="10" name="Picture 9" descr="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5648"/>
            <a:ext cx="8229600" cy="66804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06440"/>
            <a:ext cx="8229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8A5"/>
                </a:solidFill>
              </a:rPr>
              <a:t>Full roster as a pivot table (agent x date, shift codes such as M11 or E18_A2) in result/roster_january_2027.csv.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MONTHLY WORKFORCE ROSTER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Coverage Hour by 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Mixed-Integer Programming (PuLP / CBC)  |  January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05/07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ON DUTY MINUS REQUIRED, EVERY HOUR OF THE MONTH</a:t>
            </a:r>
          </a:p>
        </p:txBody>
      </p:sp>
      <p:pic>
        <p:nvPicPr>
          <p:cNvPr id="10" name="Picture 9" descr="coverag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5648"/>
            <a:ext cx="8229600" cy="36054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486400"/>
            <a:ext cx="8229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8A5"/>
                </a:solidFill>
              </a:rPr>
              <a:t>Short: 1 agent-hour(s); surplus: 2,823 agent-hours over the month. Surplus concentrates at 14:00, 15:00, 21:00, 22:00, where shifts overlap.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MONTHLY WORKFORCE ROSTER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Fairness: Shift Mix and Overtime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Mixed-Integer Programming (PuLP / CBC)  |  January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06/07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SHIFTS AND OVERTIME PER AGENT</a:t>
            </a:r>
          </a:p>
        </p:txBody>
      </p:sp>
      <p:pic>
        <p:nvPicPr>
          <p:cNvPr id="10" name="Picture 9" descr="agent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5648"/>
            <a:ext cx="5197499" cy="3931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42432" y="1444752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SPREAD ACROSS 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2432" y="1755648"/>
            <a:ext cx="294436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42432" y="1755648"/>
            <a:ext cx="54864" cy="1316736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1828800"/>
            <a:ext cx="2688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324B"/>
                </a:solidFill>
              </a:rPr>
              <a:t>19-20</a:t>
            </a:r>
          </a:p>
          <a:p>
            <a:pPr algn="l"/>
            <a:r>
              <a:rPr sz="1300" b="0" i="0">
                <a:solidFill>
                  <a:srgbClr val="6B7C8C"/>
                </a:solidFill>
              </a:rPr>
              <a:t>Days worked per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42432" y="3227832"/>
            <a:ext cx="294436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42432" y="3227832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8736" y="3300984"/>
            <a:ext cx="2688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324B"/>
                </a:solidFill>
              </a:rPr>
              <a:t>1-14 h</a:t>
            </a:r>
          </a:p>
          <a:p>
            <a:pPr algn="l"/>
            <a:r>
              <a:rPr sz="1300" b="0" i="0">
                <a:solidFill>
                  <a:srgbClr val="6B7C8C"/>
                </a:solidFill>
              </a:rPr>
              <a:t>Overtime per agent this month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MONTHLY WORKFORCE ROSTER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Recommendations and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Mixed-Integer Programming (PuLP / CBC)  |  January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07/07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4014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RECOMMENDATIONS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55648"/>
            <a:ext cx="4014215" cy="3931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" cy="393192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901952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945"/>
                </a:solidFill>
              </a:rPr>
              <a:t>Staff the store with 38 agents on M / E / N shifts.</a:t>
            </a:r>
          </a:p>
          <a:p>
            <a:pPr algn="l"/>
            <a:r>
              <a:rPr sz="1300" b="0" i="0">
                <a:solidFill>
                  <a:srgbClr val="2C3945"/>
                </a:solidFill>
              </a:rPr>
              <a:t>Review the weekend-off rule: it alone adds 11 agents. A rotating rule (e.g. one full weekend off per month) is worth testing with this model.</a:t>
            </a:r>
          </a:p>
          <a:p>
            <a:pPr algn="l"/>
            <a:r>
              <a:rPr sz="1300" b="0" i="0">
                <a:solidFill>
                  <a:srgbClr val="2C3945"/>
                </a:solidFill>
              </a:rPr>
              <a:t>Stagger shift start times: idle hours pile up at 14:00, 15:00, 21:00, 22:00.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1444752"/>
            <a:ext cx="4014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NEXT STEPS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72584" y="1755648"/>
            <a:ext cx="4014215" cy="3931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72584" y="1755648"/>
            <a:ext cx="54864" cy="3931920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901952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945"/>
                </a:solidFill>
              </a:rPr>
              <a:t>Replace assumed demand with a forecast of customers per hour.</a:t>
            </a:r>
          </a:p>
          <a:p>
            <a:pPr algn="l"/>
            <a:r>
              <a:rPr sz="1300" b="0" i="0">
                <a:solidFill>
                  <a:srgbClr val="2C3945"/>
                </a:solidFill>
              </a:rPr>
              <a:t>Derive agents per hour from the queueing simulation (Self-Order Terminal project).</a:t>
            </a:r>
          </a:p>
          <a:p>
            <a:pPr algn="l"/>
            <a:r>
              <a:rPr sz="1300" b="0" i="0">
                <a:solidFill>
                  <a:srgbClr val="2C3945"/>
                </a:solidFill>
              </a:rPr>
              <a:t>Add leave requests, public holidays and agent preferences as extra penalties.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